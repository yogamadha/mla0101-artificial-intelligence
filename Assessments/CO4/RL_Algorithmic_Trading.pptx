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Times New Roman"/>
              </a:rPr>
              <a:t>Illustrative Portfolio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RL Agent</c:v>
                </c:pt>
              </c:strCache>
            </c:strRef>
          </c:tx>
          <c:spPr>
            <a:solidFill>
              <a:srgbClr val="C00000"/>
            </a:solidFill>
            <a:ln w="31750" cap="flat">
              <a:solidFill>
                <a:srgbClr val="C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108</c:v>
                </c:pt>
                <c:pt idx="2">
                  <c:v>104</c:v>
                </c:pt>
                <c:pt idx="3">
                  <c:v>118</c:v>
                </c:pt>
                <c:pt idx="4">
                  <c:v>130</c:v>
                </c:pt>
                <c:pt idx="5">
                  <c:v>142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 &amp; Hold</c:v>
                </c:pt>
              </c:strCache>
            </c:strRef>
          </c:tx>
          <c:spPr>
            <a:solidFill>
              <a:srgbClr val="808080"/>
            </a:solidFill>
            <a:ln w="31750" cap="flat">
              <a:solidFill>
                <a:srgbClr val="808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103</c:v>
                </c:pt>
                <c:pt idx="2">
                  <c:v>99</c:v>
                </c:pt>
                <c:pt idx="3">
                  <c:v>106</c:v>
                </c:pt>
                <c:pt idx="4">
                  <c:v>110</c:v>
                </c:pt>
                <c:pt idx="5">
                  <c:v>115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Times New Roman"/>
              </a:rPr>
              <a:t>Illustrative Backtest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Return %</c:v>
                  </c:pt>
                  <c:pt idx="1">
                    <c:v>Sharpe</c:v>
                  </c:pt>
                  <c:pt idx="2">
                    <c:v>Max DD 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1.6</c:v>
                </c:pt>
                <c:pt idx="2">
                  <c:v>-12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0"/>
            <a:ext cx="10972800" cy="1673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108173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Reinforcement Learning-Based Algorithmic Trading System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194560" y="342900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MLA0101 ARTIFICIAL INTELLIGENCE AND EXPERT SYSTEMS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42245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Dr.P.Subramanian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09560" y="42245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09560" y="4572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Chaitra (192425217)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Yoga Madha(192425058)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Sai Yashaswini(192425250)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Poojitha(192425337)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84048" y="1645920"/>
            <a:ext cx="76809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markets generate massive volumes of sequential, time-varying price and volume data every second.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rule-based trading strategies struggle to adapt when market conditions shift.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Reinforcement Learning (RL) enables an agent to learn trading strategies through trial-and-error interaction with the market.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uses an RL agent that observes the market state and decides to Buy, Sell, or Hold.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is trained to maximize cumulative risk-adjusted returns rather than follow fixed rules.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offers an adaptive, data-driven approach to algorithmic trading.</a:t>
            </a:r>
            <a:endParaRPr lang="en-US" sz="16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75320" y="1691640"/>
          <a:ext cx="3566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84048" y="1645920"/>
            <a:ext cx="11731752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trading decisions are slow, emotionally biased, and inconsistent under volatile conditions.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algorithmic systems rely on fixed heuristics that break down when market regimes shift.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learning needs labeled “correct” trade data, which simply does not exist in real markets.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Trading is inherently sequential — every action changes the portfolio and the options available next.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(profit or loss) is often delayed and noisy, making it hard to credit the right decisions.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system is needed that continuously learns and adapts its strategy from live market feedback.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84048" y="1645920"/>
            <a:ext cx="11731752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Market State Representation:</a:t>
            </a:r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Ingest and preprocess real-time and historical market data into a usable state vector.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 RL Trading Agent:</a:t>
            </a:r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Develop an agent capable of choosing Buy / Sell / Hold actions based on market state.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a Risk-Aware Reward Function:</a:t>
            </a:r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Balance profit maximization with volatility and drawdown control.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via Simulated Trading:</a:t>
            </a:r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Train the agent using historical data through repeated backtesting episodes.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Against Benchmarks:</a:t>
            </a:r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Compare the trained policy's performance with traditional trading strategies.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Visualize Performance:</a:t>
            </a:r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Present portfolio value, trade decisions, and risk metrics through clear analytics.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DIAGRAM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1645920" y="1097280"/>
            <a:ext cx="889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Reinforcement Learning-Based Algorithmic Trading System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457200" y="2011680"/>
            <a:ext cx="19385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0352" y="214884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Data Feed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30352" y="26700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OHLCV + indicators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395728" y="2377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2615184" y="2011680"/>
            <a:ext cx="19385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688336" y="214884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Representation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688336" y="26700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Normalized state vector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53712" y="2377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773168" y="2011680"/>
            <a:ext cx="19385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6320" y="214884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 Agent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846320" y="26700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/ Value network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711696" y="2377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931152" y="2011680"/>
            <a:ext cx="19385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04304" y="214884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004304" y="26700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 / Sell / Hold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869680" y="237744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9089136" y="2011680"/>
            <a:ext cx="193852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62288" y="214884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Trading Environment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9162288" y="26700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broker &amp; portfolio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73168" y="3886200"/>
            <a:ext cx="6254496" cy="822960"/>
          </a:xfrm>
          <a:prstGeom prst="roundRect">
            <a:avLst>
              <a:gd name="adj" fmla="val 8889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10328" y="3886200"/>
            <a:ext cx="5980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Signal (Profit / Loss, Risk Penalty) fed back to update the RL Agent's policy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742432" y="3200400"/>
            <a:ext cx="0" cy="685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28" name="Shape 24"/>
          <p:cNvSpPr/>
          <p:nvPr/>
        </p:nvSpPr>
        <p:spPr>
          <a:xfrm>
            <a:off x="10058400" y="3200400"/>
            <a:ext cx="0" cy="685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29" name="Text 25"/>
          <p:cNvSpPr/>
          <p:nvPr/>
        </p:nvSpPr>
        <p:spPr>
          <a:xfrm>
            <a:off x="5605272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0000"/>
                </a:solidFill>
              </a:rPr>
              <a:t>▴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57200" y="49377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 repeatedly observes market state, takes an action, and updates its policy from the resulting reward — an ongoing feedback loop.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</a:t>
            </a:r>
            <a:pPr algn="ctr" indent="0" marL="0">
              <a:buNone/>
            </a:pPr>
            <a:r>
              <a:rPr lang="en-US" sz="3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Data Ingestion &amp; State Representation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Collects historical and real-time price, volume, and technical indicator data, and converts it into a structured state vector the RL agent can interpret.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Name:
</a:t>
            </a:r>
            <a:pPr algn="just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Time-Series State Encoding (OHLCV + Technical Indicators)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Technique is Implemented: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data — Open, High, Low, Close, Volume — is pulled from historical datasets or a market data API. Technical indicators such as moving averages, RSI, and volatility are computed and normalized. These values are combined into a fixed-length state vector representing the agent's market observation at each time step.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</a:t>
            </a:r>
            <a:pPr algn="ctr" indent="0" marL="0">
              <a:buNone/>
            </a:pPr>
            <a:r>
              <a:rPr lang="en-US" sz="3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 Agent Design (Policy Network)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Learns a trading policy that maps market states to actions by maximizing expected cumulative reward.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Name:
</a:t>
            </a:r>
            <a:pPr algn="just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Q-Network / Actor-Critic Policy Gradient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Technique is Implemented: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neural network takes the state vector as input and outputs either Q-values for each action (DQN) or a probability distribution over actions (policy gradient). The network is updated using gradients derived from the reward signal, gradually improving its trading decisions across repeated episodes.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</a:t>
            </a:r>
            <a:pPr algn="ctr" indent="0" marL="0">
              <a:buNone/>
            </a:pPr>
            <a:r>
              <a:rPr lang="en-US" sz="3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Space &amp; Trade Execution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Converts the agent's decision into an actual trade — Buy, Sell, or Hold — and updates the portfolio accordingly.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Name:
</a:t>
            </a:r>
            <a:pPr algn="just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Discrete Action Mapping with Position Sizing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Technique is Implemented: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agent's output is mapped to one of three discrete actions. A position-sizing rule determines how much capital to allocate per trade. The simulated brokerage environment executes the trade, updates cash and holdings, and accounts for transaction costs and slippage.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</a:t>
            </a:r>
            <a:pPr algn="ctr" indent="0" marL="0">
              <a:buNone/>
            </a:pPr>
            <a:r>
              <a:rPr lang="en-US" sz="3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Function Design &amp; Risk Management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feedback that guides the agent toward profitable and risk-aware trading behavior.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Name:
</a:t>
            </a:r>
            <a:pPr algn="just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Risk-Adjusted Reward Shaping (Sharpe-Ratio Based)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Technique is Implemented: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reward at each step combines portfolio return with a penalty for volatility and drawdown, approximating a Sharpe-ratio-style signal. This discourages the agent from taking excessively risky positions purely for short-term gain.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</a:t>
            </a:r>
            <a:pPr algn="ctr" indent="0" marL="0">
              <a:buNone/>
            </a:pPr>
            <a:r>
              <a:rPr lang="en-US" sz="3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Strategy (Backtesting &amp; Experience Replay)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Trains the RL agent by repeatedly simulating trading episodes on historical market data.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Name:
</a:t>
            </a:r>
            <a:pPr algn="just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Episodic Backtesting with Experience Replay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Technique is Implemented: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price data is divided into training episodes. The agent interacts with this simulated environment, storing (state, action, reward, next state) transitions in a replay buffer. Mini-batches are sampled from this buffer to update the network, improving sample efficiency and training stability.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6: </a:t>
            </a:r>
            <a:pPr algn="ctr" indent="0" marL="0">
              <a:buNone/>
            </a:pPr>
            <a:r>
              <a:rPr lang="en-US" sz="3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Performance Evaluation &amp; Analytics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Measures and visualizes how well the trained agent performs compared to standard benchmarks.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Name:
</a:t>
            </a:r>
            <a:pPr algn="just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Backtest Analytics Dashboard
</a:t>
            </a:r>
            <a:pPr algn="just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Technique is Implemented:
</a:t>
            </a:r>
            <a:pPr algn="just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value, cumulative returns, Sharpe ratio, and maximum drawdown are logged at every time step during testing. These metrics are plotted against a buy-and-hold benchmark to assess whether the RL strategy adds real, measurable value.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/ EXPECTED OUTCOMES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384048" y="1645920"/>
            <a:ext cx="768096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risk-adjusted returns compared to a passive buy-and-hold baseline.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maximum drawdown during volatile or downward-trending market periods.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policy performance when tested across multiple market regimes.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clear analytics dashboard giving trade-by-trade explainability of agent decisions.</a:t>
            </a:r>
            <a:endParaRPr lang="en-US" sz="1650" dirty="0"/>
          </a:p>
          <a:p>
            <a:pPr algn="just"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▸"/>
            </a:pPr>
            <a:r>
              <a:rPr lang="en-US" sz="16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Demonstrated evidence that the agent adapts its strategy rather than following fixed rules.</a:t>
            </a:r>
            <a:endParaRPr lang="en-US" sz="16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75320" y="1691640"/>
          <a:ext cx="3566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 OVER TRADITIONAL SYSTEMS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457200" y="1600200"/>
            <a:ext cx="11201400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1645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Dimension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3566160" y="1645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System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635240" y="1645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RL-Based System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Adaptability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566160" y="24231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heuristics; breaks when regime shifts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35240" y="24231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Continuously learns and adapts from feedback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11201400" cy="7772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32004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basis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320040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Hand-crafted if-then rules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35240" y="32004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Learned policy from experience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3977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handling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39776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thresholds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35240" y="3977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Reward shaped to penalize excess risk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4709160"/>
            <a:ext cx="11201400" cy="7772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47548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requirement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66160" y="47548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Rules defined manually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635240" y="4754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Learns directly from historical/live data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55321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over time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566160" y="55321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Degrades as markets evolve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635240" y="5532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Improves and adapts with more training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1600200"/>
            <a:ext cx="112014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57200" y="2377440"/>
            <a:ext cx="112014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57200" y="3154680"/>
            <a:ext cx="112014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7200" y="3931920"/>
            <a:ext cx="112014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7200" y="4709160"/>
            <a:ext cx="112014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57200" y="5486400"/>
            <a:ext cx="112014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6263640"/>
            <a:ext cx="112014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lgo_trading/unpacked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1207008" cy="1197864"/>
          </a:xfrm>
          <a:prstGeom prst="rect">
            <a:avLst/>
          </a:prstGeom>
        </p:spPr>
      </p:pic>
      <p:pic>
        <p:nvPicPr>
          <p:cNvPr id="3" name="Image 1" descr="/home/claude/algo_trading/unpacked/ppt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182880"/>
            <a:ext cx="1106424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411480"/>
            <a:ext cx="8988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&amp; FUTURE SCOPE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45720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31520" y="2514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management for hedge funds and asset managers</a:t>
            </a:r>
            <a:endParaRPr lang="en-US" sz="15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Robo-advisory platforms offering automated investing</a:t>
            </a:r>
            <a:endParaRPr lang="en-US" sz="15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Execution optimization for high-frequency and large-block trades</a:t>
            </a:r>
            <a:endParaRPr lang="en-US" sz="15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 automated trading assistants for retail investors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612648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00800" y="2514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Extending to multi-asset and multi-market portfolios</a:t>
            </a:r>
            <a:endParaRPr lang="en-US" sz="15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Incorporating news and sentiment data into the state representation</a:t>
            </a:r>
            <a:endParaRPr lang="en-US" sz="15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Exploring transformer-based state encoders for longer market context</a:t>
            </a:r>
            <a:endParaRPr lang="en-US" sz="15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paper-trading deployment before real-capital use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2026-08-24T09:04:49Z</dcterms:created>
  <dcterms:modified xsi:type="dcterms:W3CDTF">2026-08-24T09:04:49Z</dcterms:modified>
</cp:coreProperties>
</file>