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96" r:id="rId3"/>
    <p:sldId id="317" r:id="rId4"/>
    <p:sldId id="303" r:id="rId5"/>
    <p:sldId id="304" r:id="rId6"/>
    <p:sldId id="305" r:id="rId7"/>
    <p:sldId id="307" r:id="rId8"/>
    <p:sldId id="306" r:id="rId9"/>
    <p:sldId id="308" r:id="rId10"/>
    <p:sldId id="310" r:id="rId11"/>
    <p:sldId id="312" r:id="rId12"/>
    <p:sldId id="311" r:id="rId13"/>
    <p:sldId id="313" r:id="rId14"/>
    <p:sldId id="314" r:id="rId15"/>
    <p:sldId id="315" r:id="rId16"/>
    <p:sldId id="316" r:id="rId17"/>
    <p:sldId id="288"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850" y="62"/>
      </p:cViewPr>
      <p:guideLst>
        <p:guide orient="horz" pos="2880"/>
        <p:guide pos="21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5321D70-E892-43A2-B663-C229C3E17C20}" type="datetimeFigureOut">
              <a:rPr lang="en-IN" smtClean="0"/>
              <a:t>02-09-2026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F899D8B-47E7-409C-BBBA-B74D81E8A85C}"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4775" y="0"/>
            <a:ext cx="1381125" cy="1133475"/>
          </a:xfrm>
          <a:prstGeom prst="rect">
            <a:avLst/>
          </a:prstGeom>
        </p:spPr>
      </p:pic>
      <p:pic>
        <p:nvPicPr>
          <p:cNvPr id="17" name="bg object 17"/>
          <p:cNvPicPr/>
          <p:nvPr/>
        </p:nvPicPr>
        <p:blipFill>
          <a:blip r:embed="rId8" cstate="print"/>
          <a:stretch>
            <a:fillRect/>
          </a:stretch>
        </p:blipFill>
        <p:spPr>
          <a:xfrm>
            <a:off x="10959260" y="0"/>
            <a:ext cx="1141425" cy="1216152"/>
          </a:xfrm>
          <a:prstGeom prst="rect">
            <a:avLst/>
          </a:prstGeom>
        </p:spPr>
      </p:pic>
      <p:sp>
        <p:nvSpPr>
          <p:cNvPr id="2" name="Holder 2"/>
          <p:cNvSpPr>
            <a:spLocks noGrp="1"/>
          </p:cNvSpPr>
          <p:nvPr>
            <p:ph type="title"/>
          </p:nvPr>
        </p:nvSpPr>
        <p:spPr>
          <a:xfrm>
            <a:off x="3248025" y="229869"/>
            <a:ext cx="5695949" cy="1127125"/>
          </a:xfrm>
          <a:prstGeom prst="rect">
            <a:avLst/>
          </a:prstGeom>
        </p:spPr>
        <p:txBody>
          <a:bodyPr wrap="square" lIns="0" tIns="0" rIns="0" bIns="0">
            <a:spAutoFit/>
          </a:bodyPr>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954405" y="1621472"/>
            <a:ext cx="9318625" cy="4608195"/>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8037036" y="4343400"/>
            <a:ext cx="1511300" cy="334645"/>
          </a:xfrm>
          <a:prstGeom prst="rect">
            <a:avLst/>
          </a:prstGeom>
        </p:spPr>
        <p:txBody>
          <a:bodyPr vert="horz" wrap="square" lIns="0" tIns="15875" rIns="0" bIns="0" rtlCol="0">
            <a:spAutoFit/>
          </a:bodyPr>
          <a:lstStyle/>
          <a:p>
            <a:pPr marL="12700">
              <a:lnSpc>
                <a:spcPct val="100000"/>
              </a:lnSpc>
              <a:spcBef>
                <a:spcPts val="125"/>
              </a:spcBef>
            </a:pPr>
            <a:r>
              <a:rPr sz="2000" b="1" dirty="0">
                <a:solidFill>
                  <a:srgbClr val="FF0000"/>
                </a:solidFill>
                <a:latin typeface="Times New Roman" panose="02020603050405020304"/>
                <a:cs typeface="Times New Roman" panose="02020603050405020304"/>
              </a:rPr>
              <a:t>Presented</a:t>
            </a:r>
            <a:r>
              <a:rPr sz="2000" b="1" spc="-90" dirty="0">
                <a:solidFill>
                  <a:srgbClr val="FF0000"/>
                </a:solidFill>
                <a:latin typeface="Times New Roman" panose="02020603050405020304"/>
                <a:cs typeface="Times New Roman" panose="02020603050405020304"/>
              </a:rPr>
              <a:t> </a:t>
            </a:r>
            <a:r>
              <a:rPr sz="2000" b="1" spc="-25" dirty="0">
                <a:solidFill>
                  <a:srgbClr val="FF0000"/>
                </a:solidFill>
                <a:latin typeface="Times New Roman" panose="02020603050405020304"/>
                <a:cs typeface="Times New Roman" panose="02020603050405020304"/>
              </a:rPr>
              <a:t>by:</a:t>
            </a:r>
            <a:endParaRPr sz="2000" dirty="0">
              <a:latin typeface="Times New Roman" panose="02020603050405020304"/>
              <a:cs typeface="Times New Roman" panose="02020603050405020304"/>
            </a:endParaRPr>
          </a:p>
        </p:txBody>
      </p:sp>
      <p:sp>
        <p:nvSpPr>
          <p:cNvPr id="7" name="object 7"/>
          <p:cNvSpPr txBox="1"/>
          <p:nvPr/>
        </p:nvSpPr>
        <p:spPr>
          <a:xfrm>
            <a:off x="7924800" y="4800600"/>
            <a:ext cx="3511708" cy="1158651"/>
          </a:xfrm>
          <a:prstGeom prst="rect">
            <a:avLst/>
          </a:prstGeom>
        </p:spPr>
        <p:txBody>
          <a:bodyPr vert="horz" wrap="square" lIns="0" tIns="12065" rIns="0" bIns="0" rtlCol="0">
            <a:spAutoFit/>
          </a:bodyPr>
          <a:lstStyle/>
          <a:p>
            <a:pPr marL="12700" marR="5080" indent="12700">
              <a:spcBef>
                <a:spcPts val="95"/>
              </a:spcBef>
            </a:pPr>
            <a:r>
              <a:rPr lang="en-IN" dirty="0">
                <a:latin typeface="Times New Roman" panose="02020603050405020304" pitchFamily="18" charset="0"/>
                <a:cs typeface="Times New Roman" panose="02020603050405020304" pitchFamily="18" charset="0"/>
              </a:rPr>
              <a:t>Chaitra(192425217)</a:t>
            </a:r>
          </a:p>
          <a:p>
            <a:pPr marL="12700" marR="5080" indent="12700">
              <a:spcBef>
                <a:spcPts val="95"/>
              </a:spcBef>
            </a:pPr>
            <a:r>
              <a:rPr lang="en-IN" dirty="0">
                <a:latin typeface="Times New Roman" panose="02020603050405020304" pitchFamily="18" charset="0"/>
                <a:cs typeface="Times New Roman" panose="02020603050405020304" pitchFamily="18" charset="0"/>
              </a:rPr>
              <a:t>Yoga Madha(192425058)</a:t>
            </a:r>
          </a:p>
          <a:p>
            <a:pPr marL="12700" marR="5080" indent="12700">
              <a:spcBef>
                <a:spcPts val="95"/>
              </a:spcBef>
            </a:pPr>
            <a:r>
              <a:rPr lang="en-IN" dirty="0">
                <a:latin typeface="Times New Roman" panose="02020603050405020304" pitchFamily="18" charset="0"/>
                <a:cs typeface="Times New Roman" panose="02020603050405020304" pitchFamily="18" charset="0"/>
              </a:rPr>
              <a:t>Sai Yashaswini(192425250)</a:t>
            </a:r>
          </a:p>
          <a:p>
            <a:pPr marL="12700" marR="5080" indent="12700">
              <a:spcBef>
                <a:spcPts val="95"/>
              </a:spcBef>
            </a:pPr>
            <a:r>
              <a:rPr lang="en-IN" dirty="0">
                <a:latin typeface="Times New Roman" panose="02020603050405020304" pitchFamily="18" charset="0"/>
                <a:cs typeface="Times New Roman" panose="02020603050405020304" pitchFamily="18" charset="0"/>
              </a:rPr>
              <a:t>Poojitha(192425337)</a:t>
            </a:r>
          </a:p>
        </p:txBody>
      </p:sp>
      <p:sp>
        <p:nvSpPr>
          <p:cNvPr id="8" name="object 8"/>
          <p:cNvSpPr txBox="1"/>
          <p:nvPr/>
        </p:nvSpPr>
        <p:spPr>
          <a:xfrm>
            <a:off x="685800" y="4343400"/>
            <a:ext cx="4238625" cy="323807"/>
          </a:xfrm>
          <a:prstGeom prst="rect">
            <a:avLst/>
          </a:prstGeom>
        </p:spPr>
        <p:txBody>
          <a:bodyPr vert="horz" wrap="square" lIns="0" tIns="15875" rIns="0" bIns="0" rtlCol="0">
            <a:spAutoFit/>
          </a:bodyPr>
          <a:lstStyle/>
          <a:p>
            <a:pPr marL="12700">
              <a:lnSpc>
                <a:spcPct val="100000"/>
              </a:lnSpc>
              <a:spcBef>
                <a:spcPts val="125"/>
              </a:spcBef>
            </a:pPr>
            <a:r>
              <a:rPr lang="en-US" sz="2000" b="1" dirty="0" err="1">
                <a:solidFill>
                  <a:srgbClr val="FF0000"/>
                </a:solidFill>
                <a:latin typeface="Times New Roman" panose="02020603050405020304"/>
                <a:cs typeface="Times New Roman" panose="02020603050405020304"/>
              </a:rPr>
              <a:t>S</a:t>
            </a:r>
            <a:r>
              <a:rPr sz="2000" b="1" dirty="0" err="1">
                <a:solidFill>
                  <a:srgbClr val="FF0000"/>
                </a:solidFill>
                <a:latin typeface="Times New Roman" panose="02020603050405020304"/>
                <a:cs typeface="Times New Roman" panose="02020603050405020304"/>
              </a:rPr>
              <a:t>uperv</a:t>
            </a:r>
            <a:r>
              <a:rPr lang="en-IN" sz="2000" b="1" dirty="0" err="1">
                <a:solidFill>
                  <a:srgbClr val="FF0000"/>
                </a:solidFill>
                <a:latin typeface="Times New Roman" panose="02020603050405020304"/>
                <a:cs typeface="Times New Roman" panose="02020603050405020304"/>
              </a:rPr>
              <a:t>ised</a:t>
            </a:r>
            <a:r>
              <a:rPr lang="en-IN" sz="2000" b="1" dirty="0">
                <a:solidFill>
                  <a:srgbClr val="FF0000"/>
                </a:solidFill>
                <a:latin typeface="Times New Roman" panose="02020603050405020304"/>
                <a:cs typeface="Times New Roman" panose="02020603050405020304"/>
              </a:rPr>
              <a:t> by</a:t>
            </a:r>
            <a:r>
              <a:rPr sz="2000" b="1" spc="-50" dirty="0">
                <a:solidFill>
                  <a:srgbClr val="FF0000"/>
                </a:solidFill>
                <a:latin typeface="Times New Roman" panose="02020603050405020304"/>
                <a:cs typeface="Times New Roman" panose="02020603050405020304"/>
              </a:rPr>
              <a:t>:</a:t>
            </a:r>
            <a:endParaRPr sz="2000" dirty="0">
              <a:latin typeface="Times New Roman" panose="02020603050405020304"/>
              <a:cs typeface="Times New Roman" panose="02020603050405020304"/>
            </a:endParaRPr>
          </a:p>
        </p:txBody>
      </p:sp>
      <p:sp>
        <p:nvSpPr>
          <p:cNvPr id="9" name="object 9"/>
          <p:cNvSpPr txBox="1"/>
          <p:nvPr/>
        </p:nvSpPr>
        <p:spPr>
          <a:xfrm rot="10800000" flipV="1">
            <a:off x="562926" y="4852521"/>
            <a:ext cx="2104071" cy="304122"/>
          </a:xfrm>
          <a:prstGeom prst="rect">
            <a:avLst/>
          </a:prstGeom>
        </p:spPr>
        <p:txBody>
          <a:bodyPr vert="horz" wrap="square" lIns="0" tIns="10795" rIns="0" bIns="0" rtlCol="0">
            <a:spAutoFit/>
          </a:bodyPr>
          <a:lstStyle/>
          <a:p>
            <a:pPr marL="12700" marR="5080">
              <a:lnSpc>
                <a:spcPct val="101000"/>
              </a:lnSpc>
              <a:spcBef>
                <a:spcPts val="85"/>
              </a:spcBef>
            </a:pPr>
            <a:r>
              <a:rPr lang="en-IN" sz="2000" spc="-10" dirty="0" err="1">
                <a:latin typeface="Times New Roman" panose="02020603050405020304"/>
                <a:cs typeface="Times New Roman" panose="02020603050405020304"/>
              </a:rPr>
              <a:t>Dr.P.Subramanian</a:t>
            </a:r>
            <a:endParaRPr lang="en-IN" sz="2000" spc="-10" dirty="0">
              <a:latin typeface="Times New Roman" panose="02020603050405020304"/>
              <a:cs typeface="Times New Roman" panose="02020603050405020304"/>
            </a:endParaRPr>
          </a:p>
        </p:txBody>
      </p:sp>
      <p:sp>
        <p:nvSpPr>
          <p:cNvPr id="12" name="TextBox 11"/>
          <p:cNvSpPr txBox="1"/>
          <p:nvPr/>
        </p:nvSpPr>
        <p:spPr>
          <a:xfrm>
            <a:off x="685800" y="2209800"/>
            <a:ext cx="11077153" cy="1200329"/>
          </a:xfrm>
          <a:prstGeom prst="rect">
            <a:avLst/>
          </a:prstGeom>
          <a:noFill/>
        </p:spPr>
        <p:txBody>
          <a:bodyPr wrap="square" rtlCol="0">
            <a:spAutoFit/>
          </a:bodyPr>
          <a:lstStyle/>
          <a:p>
            <a:pPr algn="ctr" fontAlgn="base"/>
            <a:r>
              <a:rPr lang="en-IN" sz="3600" b="1" dirty="0">
                <a:latin typeface="Times New Roman" panose="02020603050405020304" pitchFamily="18" charset="0"/>
                <a:cs typeface="Times New Roman" panose="02020603050405020304" pitchFamily="18" charset="0"/>
              </a:rPr>
              <a:t>AI-Based Smart Indoor Air Quality Monitoring and Intelligent Ventilation Management System</a:t>
            </a:r>
            <a:endParaRPr lang="en-US" sz="3600" b="1" i="0" dirty="0">
              <a:solidFill>
                <a:schemeClr val="tx1"/>
              </a:solidFill>
              <a:effectLst/>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2"/>
          <a:stretch>
            <a:fillRect/>
          </a:stretch>
        </p:blipFill>
        <p:spPr>
          <a:xfrm>
            <a:off x="562927" y="0"/>
            <a:ext cx="10957034" cy="1672052"/>
          </a:xfrm>
          <a:prstGeom prst="rect">
            <a:avLst/>
          </a:prstGeom>
        </p:spPr>
      </p:pic>
      <p:sp>
        <p:nvSpPr>
          <p:cNvPr id="2" name="TextBox 1">
            <a:extLst>
              <a:ext uri="{FF2B5EF4-FFF2-40B4-BE49-F238E27FC236}">
                <a16:creationId xmlns:a16="http://schemas.microsoft.com/office/drawing/2014/main" id="{873B56E5-F153-648B-D7A7-9EA152AC3B9A}"/>
              </a:ext>
            </a:extLst>
          </p:cNvPr>
          <p:cNvSpPr txBox="1"/>
          <p:nvPr/>
        </p:nvSpPr>
        <p:spPr>
          <a:xfrm>
            <a:off x="2438400" y="3533001"/>
            <a:ext cx="8686800"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MLA0101-ARTIFICIAL INTELLIGENCE AND EXPERT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3200401" y="451553"/>
            <a:ext cx="6086474" cy="677108"/>
          </a:xfrm>
        </p:spPr>
        <p:txBody>
          <a:bodyPr/>
          <a:lstStyle/>
          <a:p>
            <a:pPr algn="ctr"/>
            <a:r>
              <a:rPr lang="en-IN" sz="4400" dirty="0"/>
              <a:t>INTRODUCTION</a:t>
            </a: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25681" y="218607"/>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918571" y="58421"/>
            <a:ext cx="1109938" cy="1097279"/>
          </a:xfrm>
          <a:prstGeom prst="rect">
            <a:avLst/>
          </a:prstGeom>
        </p:spPr>
      </p:pic>
      <p:sp>
        <p:nvSpPr>
          <p:cNvPr id="7" name="TextBox 6">
            <a:extLst>
              <a:ext uri="{FF2B5EF4-FFF2-40B4-BE49-F238E27FC236}">
                <a16:creationId xmlns:a16="http://schemas.microsoft.com/office/drawing/2014/main" id="{012638C4-E169-C3DC-4A25-6F9BE6B8CC97}"/>
              </a:ext>
            </a:extLst>
          </p:cNvPr>
          <p:cNvSpPr txBox="1"/>
          <p:nvPr/>
        </p:nvSpPr>
        <p:spPr>
          <a:xfrm>
            <a:off x="225681" y="1524000"/>
            <a:ext cx="7699119" cy="5046047"/>
          </a:xfrm>
          <a:prstGeom prst="rect">
            <a:avLst/>
          </a:prstGeom>
          <a:noFill/>
        </p:spPr>
        <p:txBody>
          <a:bodyPr wrap="square">
            <a:spAutoFit/>
          </a:bodyPr>
          <a:lstStyle/>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Indoor air quality is important for maintaining a </a:t>
            </a:r>
            <a:r>
              <a:rPr lang="en-IN" sz="2400" b="1" dirty="0">
                <a:latin typeface="Times New Roman" panose="02020603050405020304" pitchFamily="18" charset="0"/>
                <a:cs typeface="Times New Roman" panose="02020603050405020304" pitchFamily="18" charset="0"/>
              </a:rPr>
              <a:t>healthy, comfortable, and productive indoor environment</a:t>
            </a:r>
            <a:r>
              <a:rPr lang="en-IN" sz="2400" dirty="0">
                <a:latin typeface="Times New Roman" panose="02020603050405020304" pitchFamily="18" charset="0"/>
                <a:cs typeface="Times New Roman" panose="02020603050405020304" pitchFamily="18" charset="0"/>
              </a:rPr>
              <a:t>.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Poor ventilation can cause the accumulation of </a:t>
            </a:r>
            <a:r>
              <a:rPr lang="en-IN" sz="2400" b="1" dirty="0">
                <a:latin typeface="Times New Roman" panose="02020603050405020304" pitchFamily="18" charset="0"/>
                <a:cs typeface="Times New Roman" panose="02020603050405020304" pitchFamily="18" charset="0"/>
              </a:rPr>
              <a:t>gases and pollutants</a:t>
            </a:r>
            <a:r>
              <a:rPr lang="en-IN" sz="2400" dirty="0">
                <a:latin typeface="Times New Roman" panose="02020603050405020304" pitchFamily="18" charset="0"/>
                <a:cs typeface="Times New Roman" panose="02020603050405020304" pitchFamily="18" charset="0"/>
              </a:rPr>
              <a:t> inside enclosed spaces.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Manual monitoring of air quality is difficult because environmental conditions can change continuously.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proposed system uses an </a:t>
            </a:r>
            <a:r>
              <a:rPr lang="en-IN" sz="2400" b="1" dirty="0">
                <a:latin typeface="Times New Roman" panose="02020603050405020304" pitchFamily="18" charset="0"/>
                <a:cs typeface="Times New Roman" panose="02020603050405020304" pitchFamily="18" charset="0"/>
              </a:rPr>
              <a:t>MQ-135 sensor</a:t>
            </a:r>
            <a:r>
              <a:rPr lang="en-IN" sz="2400" dirty="0">
                <a:latin typeface="Times New Roman" panose="02020603050405020304" pitchFamily="18" charset="0"/>
                <a:cs typeface="Times New Roman" panose="02020603050405020304" pitchFamily="18" charset="0"/>
              </a:rPr>
              <a:t> to continuously monitor changes in indoor air quality.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Artificial Intelligence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analyzes</a:t>
            </a:r>
            <a:r>
              <a:rPr lang="en-IN" sz="2400" dirty="0">
                <a:latin typeface="Times New Roman" panose="02020603050405020304" pitchFamily="18" charset="0"/>
                <a:cs typeface="Times New Roman" panose="02020603050405020304" pitchFamily="18" charset="0"/>
              </a:rPr>
              <a:t> sensor data and predicts whether ventilation is required.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Based on the AI decision, an </a:t>
            </a:r>
            <a:r>
              <a:rPr lang="en-IN" sz="2400" b="1" dirty="0">
                <a:latin typeface="Times New Roman" panose="02020603050405020304" pitchFamily="18" charset="0"/>
                <a:cs typeface="Times New Roman" panose="02020603050405020304" pitchFamily="18" charset="0"/>
              </a:rPr>
              <a:t>Arduino and servo motor automatically control the ventilation door</a:t>
            </a:r>
            <a:r>
              <a:rPr lang="en-IN" sz="2400" dirty="0">
                <a:latin typeface="Times New Roman" panose="02020603050405020304" pitchFamily="18" charset="0"/>
                <a:cs typeface="Times New Roman" panose="02020603050405020304" pitchFamily="18" charset="0"/>
              </a:rPr>
              <a:t>.</a:t>
            </a:r>
          </a:p>
          <a:p>
            <a:pPr marL="342900" lvl="0" indent="-342900" algn="just">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956750C-630A-D033-2D4C-FD87FADE8837}"/>
              </a:ext>
            </a:extLst>
          </p:cNvPr>
          <p:cNvPicPr>
            <a:picLocks noChangeAspect="1"/>
          </p:cNvPicPr>
          <p:nvPr/>
        </p:nvPicPr>
        <p:blipFill>
          <a:blip r:embed="rId4"/>
          <a:stretch>
            <a:fillRect/>
          </a:stretch>
        </p:blipFill>
        <p:spPr>
          <a:xfrm>
            <a:off x="8121906" y="1752600"/>
            <a:ext cx="3844413" cy="3811068"/>
          </a:xfrm>
          <a:prstGeom prst="rect">
            <a:avLst/>
          </a:prstGeom>
        </p:spPr>
      </p:pic>
    </p:spTree>
    <p:extLst>
      <p:ext uri="{BB962C8B-B14F-4D97-AF65-F5344CB8AC3E}">
        <p14:creationId xmlns:p14="http://schemas.microsoft.com/office/powerpoint/2010/main" val="3727475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B2E57-504A-D5AF-00F6-8ACD04B96FB0}"/>
            </a:ext>
          </a:extLst>
        </p:cNvPr>
        <p:cNvGrpSpPr/>
        <p:nvPr/>
      </p:nvGrpSpPr>
      <p:grpSpPr>
        <a:xfrm>
          <a:off x="0" y="0"/>
          <a:ext cx="0" cy="0"/>
          <a:chOff x="0" y="0"/>
          <a:chExt cx="0" cy="0"/>
        </a:xfrm>
      </p:grpSpPr>
      <p:pic>
        <p:nvPicPr>
          <p:cNvPr id="5" name="object 3">
            <a:extLst>
              <a:ext uri="{FF2B5EF4-FFF2-40B4-BE49-F238E27FC236}">
                <a16:creationId xmlns:a16="http://schemas.microsoft.com/office/drawing/2014/main" id="{3760247D-E978-CA1F-B843-CF3D0EDDA54D}"/>
              </a:ext>
            </a:extLst>
          </p:cNvPr>
          <p:cNvPicPr/>
          <p:nvPr/>
        </p:nvPicPr>
        <p:blipFill>
          <a:blip r:embed="rId2" cstate="print"/>
          <a:stretch>
            <a:fillRect/>
          </a:stretch>
        </p:blipFill>
        <p:spPr>
          <a:xfrm>
            <a:off x="208476" y="106672"/>
            <a:ext cx="1343024" cy="1143000"/>
          </a:xfrm>
          <a:prstGeom prst="rect">
            <a:avLst/>
          </a:prstGeom>
        </p:spPr>
      </p:pic>
      <p:pic>
        <p:nvPicPr>
          <p:cNvPr id="6" name="object 4">
            <a:extLst>
              <a:ext uri="{FF2B5EF4-FFF2-40B4-BE49-F238E27FC236}">
                <a16:creationId xmlns:a16="http://schemas.microsoft.com/office/drawing/2014/main" id="{9ED6C13D-6759-7A7C-0BA2-D82709CDC58C}"/>
              </a:ext>
            </a:extLst>
          </p:cNvPr>
          <p:cNvPicPr/>
          <p:nvPr/>
        </p:nvPicPr>
        <p:blipFill>
          <a:blip r:embed="rId3" cstate="print"/>
          <a:stretch>
            <a:fillRect/>
          </a:stretch>
        </p:blipFill>
        <p:spPr>
          <a:xfrm>
            <a:off x="10978362" y="106673"/>
            <a:ext cx="1109938" cy="982214"/>
          </a:xfrm>
          <a:prstGeom prst="rect">
            <a:avLst/>
          </a:prstGeom>
        </p:spPr>
      </p:pic>
      <p:sp>
        <p:nvSpPr>
          <p:cNvPr id="10" name="TextBox 9">
            <a:extLst>
              <a:ext uri="{FF2B5EF4-FFF2-40B4-BE49-F238E27FC236}">
                <a16:creationId xmlns:a16="http://schemas.microsoft.com/office/drawing/2014/main" id="{B4F4AF0B-6C55-F3FB-B683-89B53E1D3E09}"/>
              </a:ext>
            </a:extLst>
          </p:cNvPr>
          <p:cNvSpPr txBox="1"/>
          <p:nvPr/>
        </p:nvSpPr>
        <p:spPr>
          <a:xfrm>
            <a:off x="3200400" y="381000"/>
            <a:ext cx="5943600" cy="707886"/>
          </a:xfrm>
          <a:prstGeom prst="rect">
            <a:avLst/>
          </a:prstGeom>
          <a:noFill/>
        </p:spPr>
        <p:txBody>
          <a:bodyPr wrap="square">
            <a:spAutoFit/>
          </a:bodyPr>
          <a:lstStyle/>
          <a:p>
            <a:r>
              <a:rPr lang="en-US" sz="4000" b="1" dirty="0">
                <a:solidFill>
                  <a:srgbClr val="C00000"/>
                </a:solidFill>
                <a:latin typeface="Times New Roman" panose="02020603050405020304" pitchFamily="18" charset="0"/>
                <a:cs typeface="Times New Roman" panose="02020603050405020304" pitchFamily="18" charset="0"/>
              </a:rPr>
              <a:t>LITERATURE REVIEW</a:t>
            </a:r>
            <a:endParaRPr lang="en-IN" sz="4000" b="1" dirty="0">
              <a:solidFill>
                <a:srgbClr val="C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CFBED3D-B1C8-BEB5-C976-846ECD1FED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00" y="1371600"/>
            <a:ext cx="11049000" cy="5273050"/>
          </a:xfrm>
          <a:prstGeom prst="rect">
            <a:avLst/>
          </a:prstGeom>
        </p:spPr>
      </p:pic>
    </p:spTree>
    <p:extLst>
      <p:ext uri="{BB962C8B-B14F-4D97-AF65-F5344CB8AC3E}">
        <p14:creationId xmlns:p14="http://schemas.microsoft.com/office/powerpoint/2010/main" val="82619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2286000" y="287914"/>
            <a:ext cx="7478403" cy="615553"/>
          </a:xfrm>
        </p:spPr>
        <p:txBody>
          <a:bodyPr/>
          <a:lstStyle/>
          <a:p>
            <a:pPr algn="ctr"/>
            <a:r>
              <a:rPr lang="en-US" sz="4000" b="1" i="0" dirty="0">
                <a:effectLst/>
                <a:latin typeface="Times New Roman" panose="02020603050405020304" pitchFamily="18" charset="0"/>
                <a:cs typeface="Times New Roman" panose="02020603050405020304" pitchFamily="18" charset="0"/>
              </a:rPr>
              <a:t>PROBLEM STATEMENT</a:t>
            </a: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35514" y="131693"/>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841632" y="44113"/>
            <a:ext cx="1109938" cy="1097279"/>
          </a:xfrm>
          <a:prstGeom prst="rect">
            <a:avLst/>
          </a:prstGeom>
        </p:spPr>
      </p:pic>
      <p:sp>
        <p:nvSpPr>
          <p:cNvPr id="4" name="TextBox 3">
            <a:extLst>
              <a:ext uri="{FF2B5EF4-FFF2-40B4-BE49-F238E27FC236}">
                <a16:creationId xmlns:a16="http://schemas.microsoft.com/office/drawing/2014/main" id="{F3B95080-FD0A-501C-8914-06B14433AFEE}"/>
              </a:ext>
            </a:extLst>
          </p:cNvPr>
          <p:cNvSpPr txBox="1"/>
          <p:nvPr/>
        </p:nvSpPr>
        <p:spPr>
          <a:xfrm>
            <a:off x="235514" y="1371600"/>
            <a:ext cx="11720972" cy="4893647"/>
          </a:xfrm>
          <a:prstGeom prst="rect">
            <a:avLst/>
          </a:prstGeom>
          <a:noFill/>
        </p:spPr>
        <p:txBody>
          <a:bodyPr wrap="square">
            <a:spAutoFit/>
          </a:bodyPr>
          <a:lstStyle/>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Indoor air quality can deteriorate when there is </a:t>
            </a:r>
            <a:r>
              <a:rPr lang="en-IN" sz="2400" b="1" dirty="0">
                <a:latin typeface="Times New Roman" panose="02020603050405020304" pitchFamily="18" charset="0"/>
                <a:cs typeface="Times New Roman" panose="02020603050405020304" pitchFamily="18" charset="0"/>
              </a:rPr>
              <a:t>insufficient ventilation</a:t>
            </a:r>
            <a:r>
              <a:rPr lang="en-IN" sz="2400" dirty="0">
                <a:latin typeface="Times New Roman" panose="02020603050405020304" pitchFamily="18" charset="0"/>
                <a:cs typeface="Times New Roman" panose="02020603050405020304" pitchFamily="18" charset="0"/>
              </a:rPr>
              <a:t> in enclosed spaces. </a:t>
            </a:r>
          </a:p>
          <a:p>
            <a:pPr lvl="0"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Conventional ventilation often depends on </a:t>
            </a:r>
            <a:r>
              <a:rPr lang="en-IN" sz="2400" b="1" dirty="0">
                <a:latin typeface="Times New Roman" panose="02020603050405020304" pitchFamily="18" charset="0"/>
                <a:cs typeface="Times New Roman" panose="02020603050405020304" pitchFamily="18" charset="0"/>
              </a:rPr>
              <a:t>manual operation</a:t>
            </a:r>
            <a:r>
              <a:rPr lang="en-IN" sz="2400" dirty="0">
                <a:latin typeface="Times New Roman" panose="02020603050405020304" pitchFamily="18" charset="0"/>
                <a:cs typeface="Times New Roman" panose="02020603050405020304" pitchFamily="18" charset="0"/>
              </a:rPr>
              <a:t> or fixed schedules.</a:t>
            </a:r>
          </a:p>
          <a:p>
            <a:pPr lvl="0"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Humans cannot continuously monitor changing air-quality conditions. </a:t>
            </a:r>
          </a:p>
          <a:p>
            <a:pPr lvl="0"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 simple threshold-based system may not adapt well to different environmental conditions. </a:t>
            </a:r>
          </a:p>
          <a:p>
            <a:pPr lvl="0"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Therefore, an intelligent system is required to </a:t>
            </a:r>
            <a:r>
              <a:rPr lang="en-IN" sz="2400" b="1" dirty="0" err="1">
                <a:latin typeface="Times New Roman" panose="02020603050405020304" pitchFamily="18" charset="0"/>
                <a:cs typeface="Times New Roman" panose="02020603050405020304" pitchFamily="18" charset="0"/>
              </a:rPr>
              <a:t>analyze</a:t>
            </a:r>
            <a:r>
              <a:rPr lang="en-IN" sz="2400" b="1" dirty="0">
                <a:latin typeface="Times New Roman" panose="02020603050405020304" pitchFamily="18" charset="0"/>
                <a:cs typeface="Times New Roman" panose="02020603050405020304" pitchFamily="18" charset="0"/>
              </a:rPr>
              <a:t> sensor patterns and automatically determine ventilation requirements</a:t>
            </a:r>
            <a:r>
              <a:rPr lang="en-IN" sz="2400" dirty="0">
                <a:latin typeface="Times New Roman" panose="02020603050405020304" pitchFamily="18" charset="0"/>
                <a:cs typeface="Times New Roman" panose="02020603050405020304" pitchFamily="18" charset="0"/>
              </a:rPr>
              <a:t>. </a:t>
            </a:r>
          </a:p>
          <a:p>
            <a:pPr lvl="0"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proposed system addresses this problem using </a:t>
            </a:r>
            <a:r>
              <a:rPr lang="en-IN" sz="2400" b="1" dirty="0">
                <a:latin typeface="Times New Roman" panose="02020603050405020304" pitchFamily="18" charset="0"/>
                <a:cs typeface="Times New Roman" panose="02020603050405020304" pitchFamily="18" charset="0"/>
              </a:rPr>
              <a:t>AI-based prediction and automatic servo-controlled ventilation</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38239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1981200" y="457201"/>
            <a:ext cx="8323577" cy="553998"/>
          </a:xfrm>
        </p:spPr>
        <p:txBody>
          <a:bodyPr/>
          <a:lstStyle/>
          <a:p>
            <a:pPr algn="ctr"/>
            <a:r>
              <a:rPr lang="en-IN" sz="3600" dirty="0">
                <a:latin typeface="Times New Roman" panose="02020603050405020304" pitchFamily="18" charset="0"/>
                <a:cs typeface="Times New Roman" panose="02020603050405020304" pitchFamily="18" charset="0"/>
              </a:rPr>
              <a:t>OBJECTIVES</a:t>
            </a: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839174" y="74799"/>
            <a:ext cx="1109938" cy="1097279"/>
          </a:xfrm>
          <a:prstGeom prst="rect">
            <a:avLst/>
          </a:prstGeom>
        </p:spPr>
      </p:pic>
      <p:sp>
        <p:nvSpPr>
          <p:cNvPr id="4" name="TextBox 3">
            <a:extLst>
              <a:ext uri="{FF2B5EF4-FFF2-40B4-BE49-F238E27FC236}">
                <a16:creationId xmlns:a16="http://schemas.microsoft.com/office/drawing/2014/main" id="{18E6D4B3-20B7-9CDC-2186-900F3220A1B7}"/>
              </a:ext>
            </a:extLst>
          </p:cNvPr>
          <p:cNvSpPr txBox="1"/>
          <p:nvPr/>
        </p:nvSpPr>
        <p:spPr>
          <a:xfrm>
            <a:off x="242888" y="1340914"/>
            <a:ext cx="11034712" cy="4893647"/>
          </a:xfrm>
          <a:prstGeom prst="rect">
            <a:avLst/>
          </a:prstGeom>
          <a:noFill/>
        </p:spPr>
        <p:txBody>
          <a:bodyPr wrap="square">
            <a:spAutoFit/>
          </a:bodyPr>
          <a:lstStyle/>
          <a:p>
            <a:pPr marL="342900" lvl="0" indent="-342900" algn="l">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Monitor Indoor Air Quality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Continuously collect air-quality readings using the MQ-135 sensor. </a:t>
            </a:r>
          </a:p>
          <a:p>
            <a:pPr marL="342900" lvl="0" indent="-342900" algn="l">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Develop an AI-Based Prediction Model</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Train a Machine Learning model to identify air-quality conditions and predict ventilation requirements. </a:t>
            </a:r>
          </a:p>
          <a:p>
            <a:pPr marL="342900" lvl="0" indent="-342900" algn="l">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Automate Ventilation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Control a servo-operated door automatically according to the AI prediction. </a:t>
            </a:r>
          </a:p>
          <a:p>
            <a:pPr marL="342900" lvl="0" indent="-342900" algn="l">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Reduce Manual Intervention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Provide automatic and condition-based ventilation without requiring continuous human monitoring. </a:t>
            </a:r>
          </a:p>
          <a:p>
            <a:pPr marL="342900" lvl="0" indent="-342900" algn="l">
              <a:buFont typeface="Wingdings" panose="05000000000000000000" pitchFamily="2" charset="2"/>
              <a:buChar char="Ø"/>
            </a:pPr>
            <a:r>
              <a:rPr lang="en-IN" sz="2400" b="1" dirty="0" err="1">
                <a:latin typeface="Times New Roman" panose="02020603050405020304" pitchFamily="18" charset="0"/>
                <a:cs typeface="Times New Roman" panose="02020603050405020304" pitchFamily="18" charset="0"/>
              </a:rPr>
              <a:t>Analyze</a:t>
            </a:r>
            <a:r>
              <a:rPr lang="en-IN" sz="2400" b="1" dirty="0">
                <a:latin typeface="Times New Roman" panose="02020603050405020304" pitchFamily="18" charset="0"/>
                <a:cs typeface="Times New Roman" panose="02020603050405020304" pitchFamily="18" charset="0"/>
              </a:rPr>
              <a:t> System Performance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Record sensor readings and ventilation actions to evaluate the effectiveness of the proposed system.</a:t>
            </a:r>
          </a:p>
        </p:txBody>
      </p:sp>
    </p:spTree>
    <p:extLst>
      <p:ext uri="{BB962C8B-B14F-4D97-AF65-F5344CB8AC3E}">
        <p14:creationId xmlns:p14="http://schemas.microsoft.com/office/powerpoint/2010/main" val="1792639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132123" y="76200"/>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949939" y="121921"/>
            <a:ext cx="1109938" cy="1097279"/>
          </a:xfrm>
          <a:prstGeom prst="rect">
            <a:avLst/>
          </a:prstGeom>
        </p:spPr>
      </p:pic>
      <p:pic>
        <p:nvPicPr>
          <p:cNvPr id="4" name="Picture 3">
            <a:extLst>
              <a:ext uri="{FF2B5EF4-FFF2-40B4-BE49-F238E27FC236}">
                <a16:creationId xmlns:a16="http://schemas.microsoft.com/office/drawing/2014/main" id="{E3961122-BD8E-EA67-0B96-A69D1B7E94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146" y="304800"/>
            <a:ext cx="9474793" cy="6096000"/>
          </a:xfrm>
          <a:prstGeom prst="rect">
            <a:avLst/>
          </a:prstGeom>
        </p:spPr>
      </p:pic>
    </p:spTree>
    <p:extLst>
      <p:ext uri="{BB962C8B-B14F-4D97-AF65-F5344CB8AC3E}">
        <p14:creationId xmlns:p14="http://schemas.microsoft.com/office/powerpoint/2010/main" val="1371644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1676400" y="520248"/>
            <a:ext cx="8839200" cy="553998"/>
          </a:xfrm>
        </p:spPr>
        <p:txBody>
          <a:bodyPr/>
          <a:lstStyle/>
          <a:p>
            <a:pPr algn="ctr"/>
            <a:r>
              <a:rPr lang="en-IN" sz="3600" b="1" i="0" dirty="0">
                <a:effectLst/>
                <a:latin typeface="Times New Roman" panose="02020603050405020304" pitchFamily="18" charset="0"/>
                <a:cs typeface="Times New Roman" panose="02020603050405020304" pitchFamily="18" charset="0"/>
              </a:rPr>
              <a:t>MODULE 1:</a:t>
            </a:r>
            <a:r>
              <a:rPr lang="en-IN" sz="3600" dirty="0"/>
              <a:t>Indoor Air Quality Monitoring</a:t>
            </a:r>
            <a:endParaRPr lang="en-IN" sz="36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839174" y="205288"/>
            <a:ext cx="1109938" cy="1097279"/>
          </a:xfrm>
          <a:prstGeom prst="rect">
            <a:avLst/>
          </a:prstGeom>
        </p:spPr>
      </p:pic>
      <p:sp>
        <p:nvSpPr>
          <p:cNvPr id="9" name="TextBox 8">
            <a:extLst>
              <a:ext uri="{FF2B5EF4-FFF2-40B4-BE49-F238E27FC236}">
                <a16:creationId xmlns:a16="http://schemas.microsoft.com/office/drawing/2014/main" id="{87A3600C-FB6B-D61F-48B9-0EA7A96A70C1}"/>
              </a:ext>
            </a:extLst>
          </p:cNvPr>
          <p:cNvSpPr txBox="1"/>
          <p:nvPr/>
        </p:nvSpPr>
        <p:spPr>
          <a:xfrm>
            <a:off x="685800" y="1600201"/>
            <a:ext cx="11125200" cy="4154984"/>
          </a:xfrm>
          <a:prstGeom prst="rect">
            <a:avLst/>
          </a:prstGeom>
          <a:noFill/>
        </p:spPr>
        <p:txBody>
          <a:bodyPr wrap="square">
            <a:spAutoFit/>
          </a:bodyPr>
          <a:lstStyle/>
          <a:p>
            <a:pPr algn="l">
              <a:buNone/>
            </a:pPr>
            <a:r>
              <a:rPr lang="en-IN" sz="2400" b="1" dirty="0">
                <a:latin typeface="Times New Roman" panose="02020603050405020304" pitchFamily="18" charset="0"/>
                <a:cs typeface="Times New Roman" panose="02020603050405020304" pitchFamily="18" charset="0"/>
              </a:rPr>
              <a:t>What it does: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Continuously detects changes in indoor air quality and provides real-time sensor data to the system.</a:t>
            </a:r>
          </a:p>
          <a:p>
            <a:pPr algn="l">
              <a:buNone/>
            </a:pPr>
            <a:endParaRPr lang="en-IN" sz="2400" dirty="0">
              <a:latin typeface="Times New Roman" panose="02020603050405020304" pitchFamily="18" charset="0"/>
              <a:cs typeface="Times New Roman" panose="02020603050405020304" pitchFamily="18" charset="0"/>
            </a:endParaRPr>
          </a:p>
          <a:p>
            <a:pPr algn="l">
              <a:buNone/>
            </a:pPr>
            <a:r>
              <a:rPr lang="en-IN" sz="2400" b="1" dirty="0">
                <a:latin typeface="Times New Roman" panose="02020603050405020304" pitchFamily="18" charset="0"/>
                <a:cs typeface="Times New Roman" panose="02020603050405020304" pitchFamily="18" charset="0"/>
              </a:rPr>
              <a:t>Technique Name:</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Real-Time Sensor-Based Data Acquisition</a:t>
            </a:r>
          </a:p>
          <a:p>
            <a:pPr algn="l">
              <a:buNone/>
            </a:pPr>
            <a:endParaRPr lang="en-IN" sz="2400" dirty="0">
              <a:latin typeface="Times New Roman" panose="02020603050405020304" pitchFamily="18" charset="0"/>
              <a:cs typeface="Times New Roman" panose="02020603050405020304" pitchFamily="18" charset="0"/>
            </a:endParaRPr>
          </a:p>
          <a:p>
            <a:pPr algn="l">
              <a:buNone/>
            </a:pPr>
            <a:r>
              <a:rPr lang="en-IN" sz="2400" b="1" dirty="0">
                <a:latin typeface="Times New Roman" panose="02020603050405020304" pitchFamily="18" charset="0"/>
                <a:cs typeface="Times New Roman" panose="02020603050405020304" pitchFamily="18" charset="0"/>
              </a:rPr>
              <a:t>How Technique is Implemented:</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MQ-135 sensor is placed inside the cardboard room and connected to the Arduino through its </a:t>
            </a:r>
            <a:r>
              <a:rPr lang="en-IN" sz="2400" dirty="0" err="1">
                <a:latin typeface="Times New Roman" panose="02020603050405020304" pitchFamily="18" charset="0"/>
                <a:cs typeface="Times New Roman" panose="02020603050405020304" pitchFamily="18" charset="0"/>
              </a:rPr>
              <a:t>analog</a:t>
            </a:r>
            <a:r>
              <a:rPr lang="en-IN" sz="2400" dirty="0">
                <a:latin typeface="Times New Roman" panose="02020603050405020304" pitchFamily="18" charset="0"/>
                <a:cs typeface="Times New Roman" panose="02020603050405020304" pitchFamily="18" charset="0"/>
              </a:rPr>
              <a:t> output. The Arduino continuously reads the sensor values and sends them for further processing and AI analysis.</a:t>
            </a:r>
          </a:p>
        </p:txBody>
      </p:sp>
    </p:spTree>
    <p:extLst>
      <p:ext uri="{BB962C8B-B14F-4D97-AF65-F5344CB8AC3E}">
        <p14:creationId xmlns:p14="http://schemas.microsoft.com/office/powerpoint/2010/main" val="2912406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1752600" y="533400"/>
            <a:ext cx="8763000" cy="1107996"/>
          </a:xfrm>
        </p:spPr>
        <p:txBody>
          <a:bodyPr/>
          <a:lstStyle/>
          <a:p>
            <a:pPr algn="ctr"/>
            <a:r>
              <a:rPr lang="en-IN" sz="3600" b="1" i="0" dirty="0">
                <a:effectLst/>
                <a:latin typeface="Times New Roman" panose="02020603050405020304" pitchFamily="18" charset="0"/>
                <a:cs typeface="Times New Roman" panose="02020603050405020304" pitchFamily="18" charset="0"/>
              </a:rPr>
              <a:t>MODULE 2:</a:t>
            </a:r>
            <a:r>
              <a:rPr lang="en-IN" sz="3600" dirty="0"/>
              <a:t>AI-Based Air Quality Analysis</a:t>
            </a:r>
            <a:endParaRPr lang="en-IN" sz="36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972800" y="229869"/>
            <a:ext cx="1109938" cy="1097279"/>
          </a:xfrm>
          <a:prstGeom prst="rect">
            <a:avLst/>
          </a:prstGeom>
        </p:spPr>
      </p:pic>
      <p:sp>
        <p:nvSpPr>
          <p:cNvPr id="4" name="TextBox 3">
            <a:extLst>
              <a:ext uri="{FF2B5EF4-FFF2-40B4-BE49-F238E27FC236}">
                <a16:creationId xmlns:a16="http://schemas.microsoft.com/office/drawing/2014/main" id="{0DE6A893-4B71-4991-6B56-85CE02DA3CD9}"/>
              </a:ext>
            </a:extLst>
          </p:cNvPr>
          <p:cNvSpPr txBox="1"/>
          <p:nvPr/>
        </p:nvSpPr>
        <p:spPr>
          <a:xfrm>
            <a:off x="685800" y="1523999"/>
            <a:ext cx="11396938" cy="4154984"/>
          </a:xfrm>
          <a:prstGeom prst="rect">
            <a:avLst/>
          </a:prstGeom>
          <a:noFill/>
        </p:spPr>
        <p:txBody>
          <a:bodyPr wrap="square">
            <a:spAutoFit/>
          </a:bodyPr>
          <a:lstStyle/>
          <a:p>
            <a:pPr algn="l">
              <a:buNone/>
            </a:pPr>
            <a:r>
              <a:rPr lang="en-IN" sz="2400" b="1" dirty="0">
                <a:latin typeface="Times New Roman" panose="02020603050405020304" pitchFamily="18" charset="0"/>
                <a:cs typeface="Times New Roman" panose="02020603050405020304" pitchFamily="18" charset="0"/>
              </a:rPr>
              <a:t>What it does:</a:t>
            </a:r>
            <a:br>
              <a:rPr lang="en-IN" sz="2400" dirty="0">
                <a:latin typeface="Times New Roman" panose="02020603050405020304" pitchFamily="18" charset="0"/>
                <a:cs typeface="Times New Roman" panose="02020603050405020304" pitchFamily="18" charset="0"/>
              </a:rPr>
            </a:br>
            <a:r>
              <a:rPr lang="en-IN" sz="2400" dirty="0" err="1">
                <a:latin typeface="Times New Roman" panose="02020603050405020304" pitchFamily="18" charset="0"/>
                <a:cs typeface="Times New Roman" panose="02020603050405020304" pitchFamily="18" charset="0"/>
              </a:rPr>
              <a:t>Analyzes</a:t>
            </a:r>
            <a:r>
              <a:rPr lang="en-IN" sz="2400" dirty="0">
                <a:latin typeface="Times New Roman" panose="02020603050405020304" pitchFamily="18" charset="0"/>
                <a:cs typeface="Times New Roman" panose="02020603050405020304" pitchFamily="18" charset="0"/>
              </a:rPr>
              <a:t> the collected sensor data and predicts whether ventilation is required.</a:t>
            </a:r>
          </a:p>
          <a:p>
            <a:pPr algn="l">
              <a:buNone/>
            </a:pPr>
            <a:endParaRPr lang="en-IN" sz="2400" dirty="0">
              <a:latin typeface="Times New Roman" panose="02020603050405020304" pitchFamily="18" charset="0"/>
              <a:cs typeface="Times New Roman" panose="02020603050405020304" pitchFamily="18" charset="0"/>
            </a:endParaRPr>
          </a:p>
          <a:p>
            <a:pPr algn="l">
              <a:buNone/>
            </a:pPr>
            <a:r>
              <a:rPr lang="en-IN" sz="2400" b="1" dirty="0">
                <a:latin typeface="Times New Roman" panose="02020603050405020304" pitchFamily="18" charset="0"/>
                <a:cs typeface="Times New Roman" panose="02020603050405020304" pitchFamily="18" charset="0"/>
              </a:rPr>
              <a:t>Technique Name:</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Decision Tree Machine Learning</a:t>
            </a:r>
          </a:p>
          <a:p>
            <a:pPr algn="l">
              <a:buNone/>
            </a:pPr>
            <a:endParaRPr lang="en-IN" sz="2400" dirty="0">
              <a:latin typeface="Times New Roman" panose="02020603050405020304" pitchFamily="18" charset="0"/>
              <a:cs typeface="Times New Roman" panose="02020603050405020304" pitchFamily="18" charset="0"/>
            </a:endParaRPr>
          </a:p>
          <a:p>
            <a:pPr algn="l">
              <a:buNone/>
            </a:pPr>
            <a:r>
              <a:rPr lang="en-IN" sz="2400" b="1" dirty="0">
                <a:latin typeface="Times New Roman" panose="02020603050405020304" pitchFamily="18" charset="0"/>
                <a:cs typeface="Times New Roman" panose="02020603050405020304" pitchFamily="18" charset="0"/>
              </a:rPr>
              <a:t>How Technique is Implemented:</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Sensor readings are collected to create a dataset containing air-quality conditions and corresponding ventilation decisions. A Decision Tree model is trained using this data. During real-time operation, new sensor readings are given to the trained model, which predicts whether ventilation is required.</a:t>
            </a:r>
          </a:p>
        </p:txBody>
      </p:sp>
    </p:spTree>
    <p:extLst>
      <p:ext uri="{BB962C8B-B14F-4D97-AF65-F5344CB8AC3E}">
        <p14:creationId xmlns:p14="http://schemas.microsoft.com/office/powerpoint/2010/main" val="1630290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1981200" y="520248"/>
            <a:ext cx="8968739" cy="1107996"/>
          </a:xfrm>
        </p:spPr>
        <p:txBody>
          <a:bodyPr/>
          <a:lstStyle/>
          <a:p>
            <a:pPr algn="ctr"/>
            <a:r>
              <a:rPr lang="en-IN" sz="3600" b="1" i="0" dirty="0">
                <a:effectLst/>
                <a:latin typeface="Times New Roman" panose="02020603050405020304" pitchFamily="18" charset="0"/>
                <a:cs typeface="Times New Roman" panose="02020603050405020304" pitchFamily="18" charset="0"/>
              </a:rPr>
              <a:t>MODULE 3:</a:t>
            </a:r>
            <a:r>
              <a:rPr lang="en-IN" sz="3600" dirty="0"/>
              <a:t>Intelligent Ventilation Control</a:t>
            </a:r>
            <a:endParaRPr lang="en-IN" sz="36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949939" y="287914"/>
            <a:ext cx="1109938" cy="1097279"/>
          </a:xfrm>
          <a:prstGeom prst="rect">
            <a:avLst/>
          </a:prstGeom>
        </p:spPr>
      </p:pic>
      <p:sp>
        <p:nvSpPr>
          <p:cNvPr id="4" name="TextBox 3">
            <a:extLst>
              <a:ext uri="{FF2B5EF4-FFF2-40B4-BE49-F238E27FC236}">
                <a16:creationId xmlns:a16="http://schemas.microsoft.com/office/drawing/2014/main" id="{2B8CE4AA-C048-7A23-3893-5DB39A0CCF74}"/>
              </a:ext>
            </a:extLst>
          </p:cNvPr>
          <p:cNvSpPr txBox="1"/>
          <p:nvPr/>
        </p:nvSpPr>
        <p:spPr>
          <a:xfrm>
            <a:off x="533400" y="1605204"/>
            <a:ext cx="10820400" cy="4524315"/>
          </a:xfrm>
          <a:prstGeom prst="rect">
            <a:avLst/>
          </a:prstGeom>
          <a:noFill/>
        </p:spPr>
        <p:txBody>
          <a:bodyPr wrap="square">
            <a:spAutoFit/>
          </a:bodyPr>
          <a:lstStyle/>
          <a:p>
            <a:pPr>
              <a:buNone/>
            </a:pPr>
            <a:endParaRPr lang="en-IN" sz="2400" b="1" dirty="0">
              <a:latin typeface="Times New Roman" panose="02020603050405020304" pitchFamily="18" charset="0"/>
              <a:cs typeface="Times New Roman" panose="02020603050405020304" pitchFamily="18" charset="0"/>
            </a:endParaRPr>
          </a:p>
          <a:p>
            <a:pPr>
              <a:buNone/>
            </a:pPr>
            <a:r>
              <a:rPr lang="en-IN" sz="2400" b="1" dirty="0">
                <a:latin typeface="Times New Roman" panose="02020603050405020304" pitchFamily="18" charset="0"/>
                <a:cs typeface="Times New Roman" panose="02020603050405020304" pitchFamily="18" charset="0"/>
              </a:rPr>
              <a:t>What it does: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Automatically opens or closes the ventilation door based on the AI prediction.</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b="1" dirty="0">
                <a:latin typeface="Times New Roman" panose="02020603050405020304" pitchFamily="18" charset="0"/>
                <a:cs typeface="Times New Roman" panose="02020603050405020304" pitchFamily="18" charset="0"/>
              </a:rPr>
              <a:t>Technique Name:</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Servo-Based Automated Actuator Control</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b="1" dirty="0">
                <a:latin typeface="Times New Roman" panose="02020603050405020304" pitchFamily="18" charset="0"/>
                <a:cs typeface="Times New Roman" panose="02020603050405020304" pitchFamily="18" charset="0"/>
              </a:rPr>
              <a:t>How Technique is Implemented:</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AI model generates a ventilation decision. Arduino receives the decision and controls the servo motor. If ventilation is required, the servo rotates to open the cardboard door. When ventilation is no longer required, the servo returns to its original position and closes the door.</a:t>
            </a:r>
          </a:p>
        </p:txBody>
      </p:sp>
    </p:spTree>
    <p:extLst>
      <p:ext uri="{BB962C8B-B14F-4D97-AF65-F5344CB8AC3E}">
        <p14:creationId xmlns:p14="http://schemas.microsoft.com/office/powerpoint/2010/main" val="3311566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1551500" y="352487"/>
            <a:ext cx="9268900" cy="615553"/>
          </a:xfrm>
        </p:spPr>
        <p:txBody>
          <a:bodyPr/>
          <a:lstStyle/>
          <a:p>
            <a:pPr algn="ctr"/>
            <a:r>
              <a:rPr lang="en-IN" sz="4000" dirty="0"/>
              <a:t>Module 4: Data Logging &amp; Analytics</a:t>
            </a:r>
            <a:endParaRPr lang="en-IN" sz="40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08475" y="304800"/>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978362" y="106672"/>
            <a:ext cx="1109938" cy="1097279"/>
          </a:xfrm>
          <a:prstGeom prst="rect">
            <a:avLst/>
          </a:prstGeom>
        </p:spPr>
      </p:pic>
      <p:sp>
        <p:nvSpPr>
          <p:cNvPr id="4" name="TextBox 3">
            <a:extLst>
              <a:ext uri="{FF2B5EF4-FFF2-40B4-BE49-F238E27FC236}">
                <a16:creationId xmlns:a16="http://schemas.microsoft.com/office/drawing/2014/main" id="{57507AC1-A397-7C4C-579D-B052A85C5EBE}"/>
              </a:ext>
            </a:extLst>
          </p:cNvPr>
          <p:cNvSpPr txBox="1"/>
          <p:nvPr/>
        </p:nvSpPr>
        <p:spPr>
          <a:xfrm>
            <a:off x="762000" y="1905000"/>
            <a:ext cx="10896600" cy="4154984"/>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What it does: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Records sensor readings and system decisions to evaluate the performance of the intelligent ventilation system.</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b="1" dirty="0">
                <a:latin typeface="Times New Roman" panose="02020603050405020304" pitchFamily="18" charset="0"/>
                <a:cs typeface="Times New Roman" panose="02020603050405020304" pitchFamily="18" charset="0"/>
              </a:rPr>
              <a:t>Technique Name:</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Data Logging and Visualization</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b="1" dirty="0">
                <a:latin typeface="Times New Roman" panose="02020603050405020304" pitchFamily="18" charset="0"/>
                <a:cs typeface="Times New Roman" panose="02020603050405020304" pitchFamily="18" charset="0"/>
              </a:rPr>
              <a:t>How Technique is Implemented:</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Sensor readings, timestamps, AI predictions, and door status are recorded during operation. The collected data is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using graphs to observe air-quality changes and determine how effectively the ventilation system responds to changing conditions.</a:t>
            </a:r>
          </a:p>
        </p:txBody>
      </p:sp>
    </p:spTree>
    <p:extLst>
      <p:ext uri="{BB962C8B-B14F-4D97-AF65-F5344CB8AC3E}">
        <p14:creationId xmlns:p14="http://schemas.microsoft.com/office/powerpoint/2010/main" val="1283876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26116-342D-687B-1097-7ECA95E34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FEAB2-B19C-DE89-A1DB-ED2A288BEC0B}"/>
              </a:ext>
            </a:extLst>
          </p:cNvPr>
          <p:cNvSpPr>
            <a:spLocks noGrp="1"/>
          </p:cNvSpPr>
          <p:nvPr>
            <p:ph type="title"/>
          </p:nvPr>
        </p:nvSpPr>
        <p:spPr>
          <a:xfrm>
            <a:off x="1551500" y="352487"/>
            <a:ext cx="9268900" cy="615553"/>
          </a:xfrm>
        </p:spPr>
        <p:txBody>
          <a:bodyPr/>
          <a:lstStyle/>
          <a:p>
            <a:pPr algn="ctr"/>
            <a:r>
              <a:rPr lang="en-US" sz="4000" b="1" i="0" dirty="0">
                <a:effectLst/>
                <a:latin typeface="Times New Roman" panose="02020603050405020304" pitchFamily="18" charset="0"/>
                <a:cs typeface="Times New Roman" panose="02020603050405020304" pitchFamily="18" charset="0"/>
              </a:rPr>
              <a:t>PRODUCT</a:t>
            </a:r>
            <a:endParaRPr lang="en-IN" sz="40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E116E355-77A9-56BE-D94F-4BBCEB51DA03}"/>
              </a:ext>
            </a:extLst>
          </p:cNvPr>
          <p:cNvPicPr/>
          <p:nvPr/>
        </p:nvPicPr>
        <p:blipFill>
          <a:blip r:embed="rId2" cstate="print"/>
          <a:stretch>
            <a:fillRect/>
          </a:stretch>
        </p:blipFill>
        <p:spPr>
          <a:xfrm>
            <a:off x="208476" y="106672"/>
            <a:ext cx="1343024" cy="1143000"/>
          </a:xfrm>
          <a:prstGeom prst="rect">
            <a:avLst/>
          </a:prstGeom>
        </p:spPr>
      </p:pic>
      <p:pic>
        <p:nvPicPr>
          <p:cNvPr id="6" name="object 4">
            <a:extLst>
              <a:ext uri="{FF2B5EF4-FFF2-40B4-BE49-F238E27FC236}">
                <a16:creationId xmlns:a16="http://schemas.microsoft.com/office/drawing/2014/main" id="{9C34B6CA-EDA9-4A54-619A-ADD905C5A904}"/>
              </a:ext>
            </a:extLst>
          </p:cNvPr>
          <p:cNvPicPr/>
          <p:nvPr/>
        </p:nvPicPr>
        <p:blipFill>
          <a:blip r:embed="rId3" cstate="print"/>
          <a:stretch>
            <a:fillRect/>
          </a:stretch>
        </p:blipFill>
        <p:spPr>
          <a:xfrm>
            <a:off x="10978362" y="106672"/>
            <a:ext cx="1109938" cy="1097279"/>
          </a:xfrm>
          <a:prstGeom prst="rect">
            <a:avLst/>
          </a:prstGeom>
        </p:spPr>
      </p:pic>
      <p:pic>
        <p:nvPicPr>
          <p:cNvPr id="4" name="Picture 3">
            <a:extLst>
              <a:ext uri="{FF2B5EF4-FFF2-40B4-BE49-F238E27FC236}">
                <a16:creationId xmlns:a16="http://schemas.microsoft.com/office/drawing/2014/main" id="{B5A0AA8D-3205-EDCE-143A-8D4E1CECDC99}"/>
              </a:ext>
            </a:extLst>
          </p:cNvPr>
          <p:cNvPicPr>
            <a:picLocks noChangeAspect="1"/>
          </p:cNvPicPr>
          <p:nvPr/>
        </p:nvPicPr>
        <p:blipFill>
          <a:blip r:embed="rId4"/>
          <a:stretch>
            <a:fillRect/>
          </a:stretch>
        </p:blipFill>
        <p:spPr>
          <a:xfrm>
            <a:off x="762000" y="1323913"/>
            <a:ext cx="4795038" cy="5181600"/>
          </a:xfrm>
          <a:prstGeom prst="rect">
            <a:avLst/>
          </a:prstGeom>
        </p:spPr>
      </p:pic>
      <p:pic>
        <p:nvPicPr>
          <p:cNvPr id="8" name="Picture 7">
            <a:extLst>
              <a:ext uri="{FF2B5EF4-FFF2-40B4-BE49-F238E27FC236}">
                <a16:creationId xmlns:a16="http://schemas.microsoft.com/office/drawing/2014/main" id="{9B68C778-2CC9-32D7-60AE-46A7FB9C1943}"/>
              </a:ext>
            </a:extLst>
          </p:cNvPr>
          <p:cNvPicPr>
            <a:picLocks noChangeAspect="1"/>
          </p:cNvPicPr>
          <p:nvPr/>
        </p:nvPicPr>
        <p:blipFill>
          <a:blip r:embed="rId5"/>
          <a:stretch>
            <a:fillRect/>
          </a:stretch>
        </p:blipFill>
        <p:spPr>
          <a:xfrm>
            <a:off x="5943600" y="1323913"/>
            <a:ext cx="5867400" cy="2105088"/>
          </a:xfrm>
          <a:prstGeom prst="rect">
            <a:avLst/>
          </a:prstGeom>
        </p:spPr>
      </p:pic>
      <p:pic>
        <p:nvPicPr>
          <p:cNvPr id="10" name="Picture 9">
            <a:extLst>
              <a:ext uri="{FF2B5EF4-FFF2-40B4-BE49-F238E27FC236}">
                <a16:creationId xmlns:a16="http://schemas.microsoft.com/office/drawing/2014/main" id="{360A6261-01C5-979D-78A8-4D88CDB5AD85}"/>
              </a:ext>
            </a:extLst>
          </p:cNvPr>
          <p:cNvPicPr>
            <a:picLocks noChangeAspect="1"/>
          </p:cNvPicPr>
          <p:nvPr/>
        </p:nvPicPr>
        <p:blipFill>
          <a:blip r:embed="rId6"/>
          <a:stretch>
            <a:fillRect/>
          </a:stretch>
        </p:blipFill>
        <p:spPr>
          <a:xfrm>
            <a:off x="5943600" y="3429000"/>
            <a:ext cx="5997063" cy="3276600"/>
          </a:xfrm>
          <a:prstGeom prst="rect">
            <a:avLst/>
          </a:prstGeom>
        </p:spPr>
      </p:pic>
    </p:spTree>
    <p:extLst>
      <p:ext uri="{BB962C8B-B14F-4D97-AF65-F5344CB8AC3E}">
        <p14:creationId xmlns:p14="http://schemas.microsoft.com/office/powerpoint/2010/main" val="782626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347AF-984C-69ED-B471-813AED091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63D2A-3D2A-99BD-8E98-6CF81FA801B8}"/>
              </a:ext>
            </a:extLst>
          </p:cNvPr>
          <p:cNvSpPr>
            <a:spLocks noGrp="1"/>
          </p:cNvSpPr>
          <p:nvPr>
            <p:ph type="title"/>
          </p:nvPr>
        </p:nvSpPr>
        <p:spPr>
          <a:xfrm>
            <a:off x="1551500" y="352487"/>
            <a:ext cx="9268900" cy="615553"/>
          </a:xfrm>
        </p:spPr>
        <p:txBody>
          <a:bodyPr/>
          <a:lstStyle/>
          <a:p>
            <a:pPr algn="ctr"/>
            <a:r>
              <a:rPr lang="en-US" sz="4000" b="1" i="0" dirty="0">
                <a:effectLst/>
                <a:latin typeface="Times New Roman" panose="02020603050405020304" pitchFamily="18" charset="0"/>
                <a:cs typeface="Times New Roman" panose="02020603050405020304" pitchFamily="18" charset="0"/>
              </a:rPr>
              <a:t>IMPLEMENTATION</a:t>
            </a:r>
            <a:endParaRPr lang="en-IN" sz="40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04FB8588-CB80-3CBC-D5C1-EC960C1133DF}"/>
              </a:ext>
            </a:extLst>
          </p:cNvPr>
          <p:cNvPicPr/>
          <p:nvPr/>
        </p:nvPicPr>
        <p:blipFill>
          <a:blip r:embed="rId2" cstate="print"/>
          <a:stretch>
            <a:fillRect/>
          </a:stretch>
        </p:blipFill>
        <p:spPr>
          <a:xfrm>
            <a:off x="208476" y="106672"/>
            <a:ext cx="1343024" cy="1143000"/>
          </a:xfrm>
          <a:prstGeom prst="rect">
            <a:avLst/>
          </a:prstGeom>
        </p:spPr>
      </p:pic>
      <p:pic>
        <p:nvPicPr>
          <p:cNvPr id="6" name="object 4">
            <a:extLst>
              <a:ext uri="{FF2B5EF4-FFF2-40B4-BE49-F238E27FC236}">
                <a16:creationId xmlns:a16="http://schemas.microsoft.com/office/drawing/2014/main" id="{B25C38ED-FDC6-E2CC-2BE8-7AB160F1860C}"/>
              </a:ext>
            </a:extLst>
          </p:cNvPr>
          <p:cNvPicPr/>
          <p:nvPr/>
        </p:nvPicPr>
        <p:blipFill>
          <a:blip r:embed="rId3" cstate="print"/>
          <a:stretch>
            <a:fillRect/>
          </a:stretch>
        </p:blipFill>
        <p:spPr>
          <a:xfrm>
            <a:off x="10978362" y="106672"/>
            <a:ext cx="1109938" cy="1097279"/>
          </a:xfrm>
          <a:prstGeom prst="rect">
            <a:avLst/>
          </a:prstGeom>
        </p:spPr>
      </p:pic>
      <p:pic>
        <p:nvPicPr>
          <p:cNvPr id="4" name="Picture 3">
            <a:extLst>
              <a:ext uri="{FF2B5EF4-FFF2-40B4-BE49-F238E27FC236}">
                <a16:creationId xmlns:a16="http://schemas.microsoft.com/office/drawing/2014/main" id="{054899A5-FAAA-36A7-740C-683E5BB341FB}"/>
              </a:ext>
            </a:extLst>
          </p:cNvPr>
          <p:cNvPicPr>
            <a:picLocks noChangeAspect="1"/>
          </p:cNvPicPr>
          <p:nvPr/>
        </p:nvPicPr>
        <p:blipFill>
          <a:blip r:embed="rId4"/>
          <a:stretch>
            <a:fillRect/>
          </a:stretch>
        </p:blipFill>
        <p:spPr>
          <a:xfrm>
            <a:off x="304800" y="1371600"/>
            <a:ext cx="3733800" cy="4572000"/>
          </a:xfrm>
          <a:prstGeom prst="rect">
            <a:avLst/>
          </a:prstGeom>
        </p:spPr>
      </p:pic>
      <p:pic>
        <p:nvPicPr>
          <p:cNvPr id="8" name="Picture 7">
            <a:extLst>
              <a:ext uri="{FF2B5EF4-FFF2-40B4-BE49-F238E27FC236}">
                <a16:creationId xmlns:a16="http://schemas.microsoft.com/office/drawing/2014/main" id="{70A89237-FB8D-DAA8-2C7E-E879FC985B2A}"/>
              </a:ext>
            </a:extLst>
          </p:cNvPr>
          <p:cNvPicPr>
            <a:picLocks noChangeAspect="1"/>
          </p:cNvPicPr>
          <p:nvPr/>
        </p:nvPicPr>
        <p:blipFill>
          <a:blip r:embed="rId5"/>
          <a:stretch>
            <a:fillRect/>
          </a:stretch>
        </p:blipFill>
        <p:spPr>
          <a:xfrm>
            <a:off x="4267200" y="1371600"/>
            <a:ext cx="3886202" cy="4495800"/>
          </a:xfrm>
          <a:prstGeom prst="rect">
            <a:avLst/>
          </a:prstGeom>
        </p:spPr>
      </p:pic>
      <p:pic>
        <p:nvPicPr>
          <p:cNvPr id="10" name="Picture 9">
            <a:extLst>
              <a:ext uri="{FF2B5EF4-FFF2-40B4-BE49-F238E27FC236}">
                <a16:creationId xmlns:a16="http://schemas.microsoft.com/office/drawing/2014/main" id="{3713B5F1-CE95-266B-77D4-C77152234855}"/>
              </a:ext>
            </a:extLst>
          </p:cNvPr>
          <p:cNvPicPr>
            <a:picLocks noChangeAspect="1"/>
          </p:cNvPicPr>
          <p:nvPr/>
        </p:nvPicPr>
        <p:blipFill>
          <a:blip r:embed="rId6"/>
          <a:stretch>
            <a:fillRect/>
          </a:stretch>
        </p:blipFill>
        <p:spPr>
          <a:xfrm>
            <a:off x="8382002" y="1371600"/>
            <a:ext cx="3505198" cy="4724400"/>
          </a:xfrm>
          <a:prstGeom prst="rect">
            <a:avLst/>
          </a:prstGeom>
        </p:spPr>
      </p:pic>
    </p:spTree>
    <p:extLst>
      <p:ext uri="{BB962C8B-B14F-4D97-AF65-F5344CB8AC3E}">
        <p14:creationId xmlns:p14="http://schemas.microsoft.com/office/powerpoint/2010/main" val="3244109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E9FB1-EFC8-E935-3404-C98DA699C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7C43C-8400-82EA-B755-50D7D495BA58}"/>
              </a:ext>
            </a:extLst>
          </p:cNvPr>
          <p:cNvSpPr>
            <a:spLocks noGrp="1"/>
          </p:cNvSpPr>
          <p:nvPr>
            <p:ph type="title"/>
          </p:nvPr>
        </p:nvSpPr>
        <p:spPr>
          <a:xfrm>
            <a:off x="1551500" y="352487"/>
            <a:ext cx="9268900" cy="615553"/>
          </a:xfrm>
        </p:spPr>
        <p:txBody>
          <a:bodyPr/>
          <a:lstStyle/>
          <a:p>
            <a:pPr algn="ctr"/>
            <a:r>
              <a:rPr lang="en-US" sz="4000" b="1" i="0" dirty="0">
                <a:effectLst/>
                <a:latin typeface="Times New Roman" panose="02020603050405020304" pitchFamily="18" charset="0"/>
                <a:cs typeface="Times New Roman" panose="02020603050405020304" pitchFamily="18" charset="0"/>
              </a:rPr>
              <a:t>APPLICATIONS</a:t>
            </a:r>
            <a:endParaRPr lang="en-IN" sz="40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1700562D-7734-7FF3-034E-D55330FD9603}"/>
              </a:ext>
            </a:extLst>
          </p:cNvPr>
          <p:cNvPicPr/>
          <p:nvPr/>
        </p:nvPicPr>
        <p:blipFill>
          <a:blip r:embed="rId2" cstate="print"/>
          <a:stretch>
            <a:fillRect/>
          </a:stretch>
        </p:blipFill>
        <p:spPr>
          <a:xfrm>
            <a:off x="208476" y="106672"/>
            <a:ext cx="1343024" cy="1143000"/>
          </a:xfrm>
          <a:prstGeom prst="rect">
            <a:avLst/>
          </a:prstGeom>
        </p:spPr>
      </p:pic>
      <p:pic>
        <p:nvPicPr>
          <p:cNvPr id="6" name="object 4">
            <a:extLst>
              <a:ext uri="{FF2B5EF4-FFF2-40B4-BE49-F238E27FC236}">
                <a16:creationId xmlns:a16="http://schemas.microsoft.com/office/drawing/2014/main" id="{830355BF-C970-57DF-4F92-C19573E66404}"/>
              </a:ext>
            </a:extLst>
          </p:cNvPr>
          <p:cNvPicPr/>
          <p:nvPr/>
        </p:nvPicPr>
        <p:blipFill>
          <a:blip r:embed="rId3" cstate="print"/>
          <a:stretch>
            <a:fillRect/>
          </a:stretch>
        </p:blipFill>
        <p:spPr>
          <a:xfrm>
            <a:off x="10978362" y="106672"/>
            <a:ext cx="1109938" cy="1097279"/>
          </a:xfrm>
          <a:prstGeom prst="rect">
            <a:avLst/>
          </a:prstGeom>
        </p:spPr>
      </p:pic>
      <p:sp>
        <p:nvSpPr>
          <p:cNvPr id="8" name="TextBox 7">
            <a:extLst>
              <a:ext uri="{FF2B5EF4-FFF2-40B4-BE49-F238E27FC236}">
                <a16:creationId xmlns:a16="http://schemas.microsoft.com/office/drawing/2014/main" id="{CED8E93E-9B2F-755D-8C21-8F7EFA52F1F7}"/>
              </a:ext>
            </a:extLst>
          </p:cNvPr>
          <p:cNvSpPr txBox="1"/>
          <p:nvPr/>
        </p:nvSpPr>
        <p:spPr>
          <a:xfrm>
            <a:off x="838200" y="1676400"/>
            <a:ext cx="10515600" cy="4154984"/>
          </a:xfrm>
          <a:prstGeom prst="rect">
            <a:avLst/>
          </a:prstGeom>
          <a:noFill/>
        </p:spPr>
        <p:txBody>
          <a:bodyPr wrap="square">
            <a:spAutoFit/>
          </a:bodyPr>
          <a:lstStyle/>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Smart Classrooms</a:t>
            </a:r>
            <a:r>
              <a:rPr lang="en-IN" sz="2400" dirty="0">
                <a:latin typeface="Times New Roman" panose="02020603050405020304" pitchFamily="18" charset="0"/>
                <a:cs typeface="Times New Roman" panose="02020603050405020304" pitchFamily="18" charset="0"/>
              </a:rPr>
              <a:t> – Monitors indoor air conditions and supports automatic ventilation.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Offices and Workspaces</a:t>
            </a:r>
            <a:r>
              <a:rPr lang="en-IN" sz="2400" dirty="0">
                <a:latin typeface="Times New Roman" panose="02020603050405020304" pitchFamily="18" charset="0"/>
                <a:cs typeface="Times New Roman" panose="02020603050405020304" pitchFamily="18" charset="0"/>
              </a:rPr>
              <a:t> – Helps maintain a comfortable indoor environment with reduced manual intervention.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Smart Homes</a:t>
            </a:r>
            <a:r>
              <a:rPr lang="en-IN" sz="2400" dirty="0">
                <a:latin typeface="Times New Roman" panose="02020603050405020304" pitchFamily="18" charset="0"/>
                <a:cs typeface="Times New Roman" panose="02020603050405020304" pitchFamily="18" charset="0"/>
              </a:rPr>
              <a:t> – Automatically responds to changes in indoor air quality.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Hospitals and Laboratories</a:t>
            </a:r>
            <a:r>
              <a:rPr lang="en-IN" sz="2400" dirty="0">
                <a:latin typeface="Times New Roman" panose="02020603050405020304" pitchFamily="18" charset="0"/>
                <a:cs typeface="Times New Roman" panose="02020603050405020304" pitchFamily="18" charset="0"/>
              </a:rPr>
              <a:t> – Supports continuous monitoring of indoor environmental conditions.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Factories and Industrial Areas</a:t>
            </a:r>
            <a:r>
              <a:rPr lang="en-IN" sz="2400" dirty="0">
                <a:latin typeface="Times New Roman" panose="02020603050405020304" pitchFamily="18" charset="0"/>
                <a:cs typeface="Times New Roman" panose="02020603050405020304" pitchFamily="18" charset="0"/>
              </a:rPr>
              <a:t> – Can provide early detection of poor air-quality conditions.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Smart Buildings</a:t>
            </a:r>
            <a:r>
              <a:rPr lang="en-IN" sz="2400" dirty="0">
                <a:latin typeface="Times New Roman" panose="02020603050405020304" pitchFamily="18" charset="0"/>
                <a:cs typeface="Times New Roman" panose="02020603050405020304" pitchFamily="18" charset="0"/>
              </a:rPr>
              <a:t> – Can be scaled to multiple rooms and integrated with intelligent building-management systems.</a:t>
            </a:r>
          </a:p>
        </p:txBody>
      </p:sp>
    </p:spTree>
    <p:extLst>
      <p:ext uri="{BB962C8B-B14F-4D97-AF65-F5344CB8AC3E}">
        <p14:creationId xmlns:p14="http://schemas.microsoft.com/office/powerpoint/2010/main" val="3691603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EF465-8C17-2028-D966-3CA5CA959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5BE25-DC2C-7608-8A7B-3678AB61B30D}"/>
              </a:ext>
            </a:extLst>
          </p:cNvPr>
          <p:cNvSpPr>
            <a:spLocks noGrp="1"/>
          </p:cNvSpPr>
          <p:nvPr>
            <p:ph type="title"/>
          </p:nvPr>
        </p:nvSpPr>
        <p:spPr>
          <a:xfrm>
            <a:off x="1551500" y="352487"/>
            <a:ext cx="9268900" cy="615553"/>
          </a:xfrm>
        </p:spPr>
        <p:txBody>
          <a:bodyPr/>
          <a:lstStyle/>
          <a:p>
            <a:pPr algn="ctr"/>
            <a:r>
              <a:rPr lang="en-US" sz="4000" b="1" i="0" dirty="0">
                <a:effectLst/>
                <a:latin typeface="Times New Roman" panose="02020603050405020304" pitchFamily="18" charset="0"/>
                <a:cs typeface="Times New Roman" panose="02020603050405020304" pitchFamily="18" charset="0"/>
              </a:rPr>
              <a:t>FUTURE SCOPE</a:t>
            </a:r>
            <a:endParaRPr lang="en-IN" sz="40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061F8717-7E0B-C4E4-08EA-53C023919C22}"/>
              </a:ext>
            </a:extLst>
          </p:cNvPr>
          <p:cNvPicPr/>
          <p:nvPr/>
        </p:nvPicPr>
        <p:blipFill>
          <a:blip r:embed="rId2" cstate="print"/>
          <a:stretch>
            <a:fillRect/>
          </a:stretch>
        </p:blipFill>
        <p:spPr>
          <a:xfrm>
            <a:off x="208476" y="106672"/>
            <a:ext cx="1343024" cy="1143000"/>
          </a:xfrm>
          <a:prstGeom prst="rect">
            <a:avLst/>
          </a:prstGeom>
        </p:spPr>
      </p:pic>
      <p:pic>
        <p:nvPicPr>
          <p:cNvPr id="6" name="object 4">
            <a:extLst>
              <a:ext uri="{FF2B5EF4-FFF2-40B4-BE49-F238E27FC236}">
                <a16:creationId xmlns:a16="http://schemas.microsoft.com/office/drawing/2014/main" id="{95A255FF-561C-5418-DA34-F93B4B286B2A}"/>
              </a:ext>
            </a:extLst>
          </p:cNvPr>
          <p:cNvPicPr/>
          <p:nvPr/>
        </p:nvPicPr>
        <p:blipFill>
          <a:blip r:embed="rId3" cstate="print"/>
          <a:stretch>
            <a:fillRect/>
          </a:stretch>
        </p:blipFill>
        <p:spPr>
          <a:xfrm>
            <a:off x="10978362" y="106672"/>
            <a:ext cx="1109938" cy="1097279"/>
          </a:xfrm>
          <a:prstGeom prst="rect">
            <a:avLst/>
          </a:prstGeom>
        </p:spPr>
      </p:pic>
      <p:sp>
        <p:nvSpPr>
          <p:cNvPr id="4" name="TextBox 3">
            <a:extLst>
              <a:ext uri="{FF2B5EF4-FFF2-40B4-BE49-F238E27FC236}">
                <a16:creationId xmlns:a16="http://schemas.microsoft.com/office/drawing/2014/main" id="{DE9A4FA6-AA01-D072-D653-54388C0507B3}"/>
              </a:ext>
            </a:extLst>
          </p:cNvPr>
          <p:cNvSpPr txBox="1"/>
          <p:nvPr/>
        </p:nvSpPr>
        <p:spPr>
          <a:xfrm>
            <a:off x="457200" y="1676400"/>
            <a:ext cx="11506200" cy="4524315"/>
          </a:xfrm>
          <a:prstGeom prst="rect">
            <a:avLst/>
          </a:prstGeom>
          <a:noFill/>
        </p:spPr>
        <p:txBody>
          <a:bodyPr wrap="square">
            <a:spAutoFit/>
          </a:bodyPr>
          <a:lstStyle/>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Accurate CO₂ Sensor Integration</a:t>
            </a:r>
            <a:r>
              <a:rPr lang="en-IN" sz="2400" dirty="0">
                <a:latin typeface="Times New Roman" panose="02020603050405020304" pitchFamily="18" charset="0"/>
                <a:cs typeface="Times New Roman" panose="02020603050405020304" pitchFamily="18" charset="0"/>
              </a:rPr>
              <a:t> – Replace MQ-135 with an NDIR CO₂ sensor for accurate ppm measurements.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Temperature and Humidity Monitoring</a:t>
            </a:r>
            <a:r>
              <a:rPr lang="en-IN" sz="2400" dirty="0">
                <a:latin typeface="Times New Roman" panose="02020603050405020304" pitchFamily="18" charset="0"/>
                <a:cs typeface="Times New Roman" panose="02020603050405020304" pitchFamily="18" charset="0"/>
              </a:rPr>
              <a:t> – Add DHT22 or similar sensors for multi-parameter environmental monitoring.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PM2.5 and Occupancy Detection</a:t>
            </a:r>
            <a:r>
              <a:rPr lang="en-IN" sz="2400" dirty="0">
                <a:latin typeface="Times New Roman" panose="02020603050405020304" pitchFamily="18" charset="0"/>
                <a:cs typeface="Times New Roman" panose="02020603050405020304" pitchFamily="18" charset="0"/>
              </a:rPr>
              <a:t> – Add particulate-matter and occupancy sensors for better air-quality analysis.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Advanced AI Models</a:t>
            </a:r>
            <a:r>
              <a:rPr lang="en-IN" sz="2400" dirty="0">
                <a:latin typeface="Times New Roman" panose="02020603050405020304" pitchFamily="18" charset="0"/>
                <a:cs typeface="Times New Roman" panose="02020603050405020304" pitchFamily="18" charset="0"/>
              </a:rPr>
              <a:t> – Compare Decision Tree, Random Forest, </a:t>
            </a:r>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and neural-network models.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IoT and Cloud Integration</a:t>
            </a:r>
            <a:r>
              <a:rPr lang="en-IN" sz="2400" dirty="0">
                <a:latin typeface="Times New Roman" panose="02020603050405020304" pitchFamily="18" charset="0"/>
                <a:cs typeface="Times New Roman" panose="02020603050405020304" pitchFamily="18" charset="0"/>
              </a:rPr>
              <a:t> – Enable remote monitoring, data storage, and real-time notifications. </a:t>
            </a:r>
          </a:p>
          <a:p>
            <a:pPr marL="342900" lvl="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Smart HVAC Integration</a:t>
            </a:r>
            <a:r>
              <a:rPr lang="en-IN" sz="2400" dirty="0">
                <a:latin typeface="Times New Roman" panose="02020603050405020304" pitchFamily="18" charset="0"/>
                <a:cs typeface="Times New Roman" panose="02020603050405020304" pitchFamily="18" charset="0"/>
              </a:rPr>
              <a:t> – Connect the system with fans, air conditioners, or automated ventilation systems.</a:t>
            </a:r>
          </a:p>
        </p:txBody>
      </p:sp>
    </p:spTree>
    <p:extLst>
      <p:ext uri="{BB962C8B-B14F-4D97-AF65-F5344CB8AC3E}">
        <p14:creationId xmlns:p14="http://schemas.microsoft.com/office/powerpoint/2010/main" val="3356823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48577-DE62-BAED-84B5-F2F3A5471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B63BCA-4390-2536-30DF-E9792AD24CEA}"/>
              </a:ext>
            </a:extLst>
          </p:cNvPr>
          <p:cNvSpPr>
            <a:spLocks noGrp="1"/>
          </p:cNvSpPr>
          <p:nvPr>
            <p:ph type="title"/>
          </p:nvPr>
        </p:nvSpPr>
        <p:spPr>
          <a:xfrm>
            <a:off x="1551500" y="352487"/>
            <a:ext cx="9268900" cy="615553"/>
          </a:xfrm>
        </p:spPr>
        <p:txBody>
          <a:bodyPr/>
          <a:lstStyle/>
          <a:p>
            <a:pPr algn="ctr"/>
            <a:r>
              <a:rPr lang="en-US" sz="4000" b="1" i="0" dirty="0">
                <a:effectLst/>
                <a:latin typeface="Times New Roman" panose="02020603050405020304" pitchFamily="18" charset="0"/>
                <a:cs typeface="Times New Roman" panose="02020603050405020304" pitchFamily="18" charset="0"/>
              </a:rPr>
              <a:t>CONCLUSION</a:t>
            </a:r>
            <a:endParaRPr lang="en-IN" sz="40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6824C7D3-6FDC-0E3C-AB51-7811B5F60453}"/>
              </a:ext>
            </a:extLst>
          </p:cNvPr>
          <p:cNvPicPr/>
          <p:nvPr/>
        </p:nvPicPr>
        <p:blipFill>
          <a:blip r:embed="rId2" cstate="print"/>
          <a:stretch>
            <a:fillRect/>
          </a:stretch>
        </p:blipFill>
        <p:spPr>
          <a:xfrm>
            <a:off x="208476" y="106672"/>
            <a:ext cx="1343024" cy="1143000"/>
          </a:xfrm>
          <a:prstGeom prst="rect">
            <a:avLst/>
          </a:prstGeom>
        </p:spPr>
      </p:pic>
      <p:pic>
        <p:nvPicPr>
          <p:cNvPr id="6" name="object 4">
            <a:extLst>
              <a:ext uri="{FF2B5EF4-FFF2-40B4-BE49-F238E27FC236}">
                <a16:creationId xmlns:a16="http://schemas.microsoft.com/office/drawing/2014/main" id="{4D79CA67-A9A9-EE34-BE3D-B5979989A829}"/>
              </a:ext>
            </a:extLst>
          </p:cNvPr>
          <p:cNvPicPr/>
          <p:nvPr/>
        </p:nvPicPr>
        <p:blipFill>
          <a:blip r:embed="rId3" cstate="print"/>
          <a:stretch>
            <a:fillRect/>
          </a:stretch>
        </p:blipFill>
        <p:spPr>
          <a:xfrm>
            <a:off x="10978362" y="106672"/>
            <a:ext cx="1109938" cy="1097279"/>
          </a:xfrm>
          <a:prstGeom prst="rect">
            <a:avLst/>
          </a:prstGeom>
        </p:spPr>
      </p:pic>
      <p:sp>
        <p:nvSpPr>
          <p:cNvPr id="4" name="TextBox 3">
            <a:extLst>
              <a:ext uri="{FF2B5EF4-FFF2-40B4-BE49-F238E27FC236}">
                <a16:creationId xmlns:a16="http://schemas.microsoft.com/office/drawing/2014/main" id="{D687B89B-30AA-0EAC-542A-B493ED75B80B}"/>
              </a:ext>
            </a:extLst>
          </p:cNvPr>
          <p:cNvSpPr txBox="1"/>
          <p:nvPr/>
        </p:nvSpPr>
        <p:spPr>
          <a:xfrm>
            <a:off x="914400" y="1828799"/>
            <a:ext cx="10591800" cy="3416320"/>
          </a:xfrm>
          <a:prstGeom prst="rect">
            <a:avLst/>
          </a:prstGeom>
          <a:noFill/>
        </p:spPr>
        <p:txBody>
          <a:bodyPr wrap="square">
            <a:spAutoFit/>
          </a:bodyPr>
          <a:lstStyle/>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system provides a </a:t>
            </a:r>
            <a:r>
              <a:rPr lang="en-IN" sz="2400" b="1" dirty="0">
                <a:latin typeface="Times New Roman" panose="02020603050405020304" pitchFamily="18" charset="0"/>
                <a:cs typeface="Times New Roman" panose="02020603050405020304" pitchFamily="18" charset="0"/>
              </a:rPr>
              <a:t>low-cost approach to intelligent indoor air-quality monitoring</a:t>
            </a:r>
            <a:r>
              <a:rPr lang="en-IN" sz="2400" dirty="0">
                <a:latin typeface="Times New Roman" panose="02020603050405020304" pitchFamily="18" charset="0"/>
                <a:cs typeface="Times New Roman" panose="02020603050405020304" pitchFamily="18" charset="0"/>
              </a:rPr>
              <a:t>.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MQ-135 sensor continuously detects changes in indoor air conditions.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Collected sensor data can be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using a </a:t>
            </a:r>
            <a:r>
              <a:rPr lang="en-IN" sz="2400" b="1" dirty="0">
                <a:latin typeface="Times New Roman" panose="02020603050405020304" pitchFamily="18" charset="0"/>
                <a:cs typeface="Times New Roman" panose="02020603050405020304" pitchFamily="18" charset="0"/>
              </a:rPr>
              <a:t>Machine Learning model</a:t>
            </a:r>
            <a:r>
              <a:rPr lang="en-IN" sz="2400" dirty="0">
                <a:latin typeface="Times New Roman" panose="02020603050405020304" pitchFamily="18" charset="0"/>
                <a:cs typeface="Times New Roman" panose="02020603050405020304" pitchFamily="18" charset="0"/>
              </a:rPr>
              <a:t>.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AI model predicts whether ventilation is required based on learned sensor patterns.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Arduino and a servo motor automatically control the ventilation door.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project demonstrates the integration of </a:t>
            </a:r>
            <a:r>
              <a:rPr lang="en-IN" sz="2400" b="1" dirty="0">
                <a:latin typeface="Times New Roman" panose="02020603050405020304" pitchFamily="18" charset="0"/>
                <a:cs typeface="Times New Roman" panose="02020603050405020304" pitchFamily="18" charset="0"/>
              </a:rPr>
              <a:t>AI, sensors, embedded systems, and automation</a:t>
            </a:r>
            <a:r>
              <a:rPr lang="en-IN" sz="2400" dirty="0">
                <a:latin typeface="Times New Roman" panose="02020603050405020304" pitchFamily="18" charset="0"/>
                <a:cs typeface="Times New Roman" panose="02020603050405020304" pitchFamily="18" charset="0"/>
              </a:rPr>
              <a:t> for smart indoor environments.</a:t>
            </a:r>
          </a:p>
        </p:txBody>
      </p:sp>
    </p:spTree>
    <p:extLst>
      <p:ext uri="{BB962C8B-B14F-4D97-AF65-F5344CB8AC3E}">
        <p14:creationId xmlns:p14="http://schemas.microsoft.com/office/powerpoint/2010/main" val="2862690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0B069-E636-E52D-CFE7-D3B2BA8BC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BC90F-6D55-126B-E24B-CB38629C27D6}"/>
              </a:ext>
            </a:extLst>
          </p:cNvPr>
          <p:cNvSpPr>
            <a:spLocks noGrp="1"/>
          </p:cNvSpPr>
          <p:nvPr>
            <p:ph type="title"/>
          </p:nvPr>
        </p:nvSpPr>
        <p:spPr>
          <a:xfrm>
            <a:off x="1551500" y="352487"/>
            <a:ext cx="9268900" cy="615553"/>
          </a:xfrm>
        </p:spPr>
        <p:txBody>
          <a:bodyPr/>
          <a:lstStyle/>
          <a:p>
            <a:pPr algn="ctr"/>
            <a:r>
              <a:rPr lang="en-US" sz="4000" b="1" i="0" dirty="0">
                <a:effectLst/>
                <a:latin typeface="Times New Roman" panose="02020603050405020304" pitchFamily="18" charset="0"/>
                <a:cs typeface="Times New Roman" panose="02020603050405020304" pitchFamily="18" charset="0"/>
              </a:rPr>
              <a:t>REFERENCES</a:t>
            </a:r>
            <a:endParaRPr lang="en-IN" sz="40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8A1E0937-29E5-F642-8F73-061E564C18EC}"/>
              </a:ext>
            </a:extLst>
          </p:cNvPr>
          <p:cNvPicPr/>
          <p:nvPr/>
        </p:nvPicPr>
        <p:blipFill>
          <a:blip r:embed="rId2" cstate="print"/>
          <a:stretch>
            <a:fillRect/>
          </a:stretch>
        </p:blipFill>
        <p:spPr>
          <a:xfrm>
            <a:off x="208476" y="106672"/>
            <a:ext cx="1343024" cy="1143000"/>
          </a:xfrm>
          <a:prstGeom prst="rect">
            <a:avLst/>
          </a:prstGeom>
        </p:spPr>
      </p:pic>
      <p:pic>
        <p:nvPicPr>
          <p:cNvPr id="6" name="object 4">
            <a:extLst>
              <a:ext uri="{FF2B5EF4-FFF2-40B4-BE49-F238E27FC236}">
                <a16:creationId xmlns:a16="http://schemas.microsoft.com/office/drawing/2014/main" id="{FBC5B34A-B4CD-3DEF-735C-1406B748B7EA}"/>
              </a:ext>
            </a:extLst>
          </p:cNvPr>
          <p:cNvPicPr/>
          <p:nvPr/>
        </p:nvPicPr>
        <p:blipFill>
          <a:blip r:embed="rId3" cstate="print"/>
          <a:stretch>
            <a:fillRect/>
          </a:stretch>
        </p:blipFill>
        <p:spPr>
          <a:xfrm>
            <a:off x="10978362" y="106672"/>
            <a:ext cx="1109938" cy="1097279"/>
          </a:xfrm>
          <a:prstGeom prst="rect">
            <a:avLst/>
          </a:prstGeom>
        </p:spPr>
      </p:pic>
      <p:sp>
        <p:nvSpPr>
          <p:cNvPr id="8" name="TextBox 7">
            <a:extLst>
              <a:ext uri="{FF2B5EF4-FFF2-40B4-BE49-F238E27FC236}">
                <a16:creationId xmlns:a16="http://schemas.microsoft.com/office/drawing/2014/main" id="{922545C7-F945-FFAF-1C28-95DFC0175158}"/>
              </a:ext>
            </a:extLst>
          </p:cNvPr>
          <p:cNvSpPr txBox="1"/>
          <p:nvPr/>
        </p:nvSpPr>
        <p:spPr>
          <a:xfrm>
            <a:off x="914400" y="1676399"/>
            <a:ext cx="10210800" cy="4154984"/>
          </a:xfrm>
          <a:prstGeom prst="rect">
            <a:avLst/>
          </a:prstGeom>
          <a:noFill/>
        </p:spPr>
        <p:txBody>
          <a:bodyPr wrap="square">
            <a:spAutoFit/>
          </a:bodyPr>
          <a:lstStyle/>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Nguyen, T.-P. (2025). </a:t>
            </a:r>
            <a:r>
              <a:rPr lang="en-IN" sz="2400" dirty="0" err="1">
                <a:latin typeface="Times New Roman" panose="02020603050405020304" pitchFamily="18" charset="0"/>
                <a:cs typeface="Times New Roman" panose="02020603050405020304" pitchFamily="18" charset="0"/>
              </a:rPr>
              <a:t>AIoT</a:t>
            </a:r>
            <a:r>
              <a:rPr lang="en-IN" sz="2400" dirty="0">
                <a:latin typeface="Times New Roman" panose="02020603050405020304" pitchFamily="18" charset="0"/>
                <a:cs typeface="Times New Roman" panose="02020603050405020304" pitchFamily="18" charset="0"/>
              </a:rPr>
              <a:t>-Based Indoor Air Quality Prediction Using Hybrid Deep Learning. Journal of Building Engineering.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Garcia et al. (2025). IoT-Based Air Quality Monitoring and AI Technologies: A Systematic Review. Artificial Intelligence Review.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Ramadan et al. (2025). Federated Learning-Enabled IoT Framework for Indoor Air Quality and HVAC Optimization. Journal of Building Engineering.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Li et al. (2024). Estimating Air Change Rate in Mechanically Ventilated Classrooms Using CO₂ Sensors. Environmental Science &amp; Technology.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Zhang et al. (2024). Quantifying Indoor Air Quality and Ventilation Using Machine Learning. Building and Environment. </a:t>
            </a:r>
          </a:p>
          <a:p>
            <a:pPr marL="342900" lvl="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ASHRAE (2023). Standard 241: Control of Infectious Aerosols.</a:t>
            </a:r>
          </a:p>
        </p:txBody>
      </p:sp>
    </p:spTree>
    <p:extLst>
      <p:ext uri="{BB962C8B-B14F-4D97-AF65-F5344CB8AC3E}">
        <p14:creationId xmlns:p14="http://schemas.microsoft.com/office/powerpoint/2010/main" val="2741386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048000" y="2829560"/>
            <a:ext cx="6033135" cy="1198880"/>
          </a:xfrm>
          <a:prstGeom prst="rect">
            <a:avLst/>
          </a:prstGeom>
          <a:noFill/>
        </p:spPr>
        <p:txBody>
          <a:bodyPr wrap="square" rtlCol="0">
            <a:spAutoFit/>
          </a:bodyPr>
          <a:lstStyle/>
          <a:p>
            <a:r>
              <a:rPr lang="en-US" sz="7200" dirty="0">
                <a:solidFill>
                  <a:srgbClr val="C0000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630</TotalTime>
  <Words>1035</Words>
  <Application>Microsoft Office PowerPoint</Application>
  <PresentationFormat>Widescreen</PresentationFormat>
  <Paragraphs>91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Times New Roman</vt:lpstr>
      <vt:lpstr>Wingdings</vt:lpstr>
      <vt:lpstr>Office Theme</vt:lpstr>
      <vt:lpstr>PowerPoint Presentation</vt:lpstr>
      <vt:lpstr>INTRODUCTION</vt:lpstr>
      <vt:lpstr>PowerPoint Presentation</vt:lpstr>
      <vt:lpstr>PROBLEM STATEMENT</vt:lpstr>
      <vt:lpstr>OBJECTIVES</vt:lpstr>
      <vt:lpstr>PowerPoint Presentation</vt:lpstr>
      <vt:lpstr>MODULE 1:Indoor Air Quality Monitoring</vt:lpstr>
      <vt:lpstr>MODULE 2:AI-Based Air Quality Analysis</vt:lpstr>
      <vt:lpstr>MODULE 3:Intelligent Ventilation Control</vt:lpstr>
      <vt:lpstr>Module 4: Data Logging &amp; Analytics</vt:lpstr>
      <vt:lpstr>PRODUCT</vt:lpstr>
      <vt:lpstr>IMPLEMENTATION</vt:lpstr>
      <vt:lpstr>APPLICATIONS</vt:lpstr>
      <vt:lpstr>FUTURE SCOPE</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SIMATS ENGINEERING SAVEETHA INSTITUTE OF MEDICAL AND TECHNICAL SCIENCES</dc:title>
  <dc:creator>LENOVO</dc:creator>
  <cp:lastModifiedBy>Chaitra Thulluru</cp:lastModifiedBy>
  <cp:revision>29</cp:revision>
  <dcterms:created xsi:type="dcterms:W3CDTF">2025-12-24T03:01:00Z</dcterms:created>
  <dcterms:modified xsi:type="dcterms:W3CDTF">2026-09-02T04:47:17Z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2025-12-24T11:00:00Z</vt:filetime>
  </property>
  <property fmtid="{D5CDD505-2E9C-101B-9397-08002B2CF9AE}" pid="3" name="LastSaved">
    <vt:filetime>2025-12-24T11:00:00Z</vt:filetime>
  </property>
  <property fmtid="{D5CDD505-2E9C-101B-9397-08002B2CF9AE}" pid="4" name="ICV">
    <vt:lpwstr>65C4E49682984BF98145F6A23285ED7B_12</vt:lpwstr>
  </property>
  <property fmtid="{D5CDD505-2E9C-101B-9397-08002B2CF9AE}" pid="5" name="KSOProductBuildVer">
    <vt:lpwstr>1033-12.2.0.23196</vt:lpwstr>
  </property>
</Properties>
</file>